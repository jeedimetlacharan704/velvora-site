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C5282"/>
          </a:solidFill>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000" b="1" dirty="0">
                <a:solidFill>
                  <a:srgbClr val="FFFFFF"/>
                </a:solidFill>
                <a:latin typeface="Times New Roman" pitchFamily="34" charset="0"/>
                <a:ea typeface="Times New Roman" pitchFamily="34" charset="-122"/>
                <a:cs typeface="Times New Roman" pitchFamily="34" charset="-120"/>
              </a:rPr>
              <a:t>E-Commerce Website for</a:t>
            </a:r>
            <a:endParaRPr lang="en-US" sz="4000" dirty="0"/>
          </a:p>
          <a:p>
            <a:pPr algn="ctr" indent="0" marL="0">
              <a:buNone/>
            </a:pPr>
            <a:r>
              <a:rPr lang="en-US" sz="4000" b="1" dirty="0">
                <a:solidFill>
                  <a:srgbClr val="FFFFFF"/>
                </a:solidFill>
                <a:latin typeface="Times New Roman" pitchFamily="34" charset="0"/>
                <a:ea typeface="Times New Roman" pitchFamily="34" charset="-122"/>
                <a:cs typeface="Times New Roman" pitchFamily="34" charset="-120"/>
              </a:rPr>
              <a:t>Clothing Business</a:t>
            </a:r>
            <a:endParaRPr lang="en-US" sz="4000" dirty="0"/>
          </a:p>
        </p:txBody>
      </p:sp>
      <p:sp>
        <p:nvSpPr>
          <p:cNvPr id="4" name="Text 2"/>
          <p:cNvSpPr/>
          <p:nvPr/>
        </p:nvSpPr>
        <p:spPr>
          <a:xfrm>
            <a:off x="457200" y="3200400"/>
            <a:ext cx="8229600" cy="731520"/>
          </a:xfrm>
          <a:prstGeom prst="rect">
            <a:avLst/>
          </a:prstGeom>
          <a:noFill/>
          <a:ln/>
        </p:spPr>
        <p:txBody>
          <a:bodyPr wrap="square" rtlCol="0" anchor="ctr"/>
          <a:lstStyle/>
          <a:p>
            <a:pPr algn="ctr" indent="0" marL="0">
              <a:buNone/>
            </a:pPr>
            <a:r>
              <a:rPr lang="en-US" sz="2400" dirty="0">
                <a:solidFill>
                  <a:srgbClr val="EBF8FF"/>
                </a:solidFill>
                <a:latin typeface="Times New Roman" pitchFamily="34" charset="0"/>
                <a:ea typeface="Times New Roman" pitchFamily="34" charset="-122"/>
                <a:cs typeface="Times New Roman" pitchFamily="34" charset="-120"/>
              </a:rPr>
              <a:t>Velvora Luxury - Database Management System Project</a:t>
            </a:r>
            <a:endParaRPr lang="en-US" sz="2400" dirty="0"/>
          </a:p>
        </p:txBody>
      </p:sp>
      <p:sp>
        <p:nvSpPr>
          <p:cNvPr id="5" name="Shape 3"/>
          <p:cNvSpPr/>
          <p:nvPr/>
        </p:nvSpPr>
        <p:spPr>
          <a:xfrm>
            <a:off x="0" y="4754880"/>
            <a:ext cx="9144000" cy="388620"/>
          </a:xfrm>
          <a:prstGeom prst="rect">
            <a:avLst/>
          </a:prstGeom>
          <a:solidFill>
            <a:srgbClr val="E53E3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Table of Contents</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Text 3"/>
          <p:cNvSpPr/>
          <p:nvPr/>
        </p:nvSpPr>
        <p:spPr>
          <a:xfrm>
            <a:off x="914400" y="1097280"/>
            <a:ext cx="7315200" cy="3657600"/>
          </a:xfrm>
          <a:prstGeom prst="rect">
            <a:avLst/>
          </a:prstGeom>
          <a:noFill/>
          <a:ln/>
        </p:spPr>
        <p:txBody>
          <a:bodyPr wrap="square" rtlCol="0" anchor="t"/>
          <a:lstStyle/>
          <a:p>
            <a:pPr indent="0" marL="0">
              <a:buNone/>
            </a:pPr>
            <a:r>
              <a:rPr lang="en-US" sz="1800" dirty="0">
                <a:solidFill>
                  <a:srgbClr val="1A202C"/>
                </a:solidFill>
                <a:latin typeface="Times New Roman" pitchFamily="34" charset="0"/>
                <a:ea typeface="Times New Roman" pitchFamily="34" charset="-122"/>
                <a:cs typeface="Times New Roman" pitchFamily="34" charset="-120"/>
              </a:rPr>
              <a:t>1. Abstract</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2. Introduction</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3. Need for the Study</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4. Objectives</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5. Literature Survey</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6. Methodology Used to Achieve Objectives</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7. Software Requirements</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8. Execution Screenshots</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9. Code in Separate File</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10. Creativity and Innovation</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11. Future Scope</a:t>
            </a:r>
            <a:endParaRPr lang="en-US" sz="1800" dirty="0"/>
          </a:p>
          <a:p>
            <a:pPr indent="0" marL="0">
              <a:buNone/>
            </a:pPr>
            <a:r>
              <a:rPr lang="en-US" sz="1800" dirty="0">
                <a:solidFill>
                  <a:srgbClr val="1A202C"/>
                </a:solidFill>
                <a:latin typeface="Times New Roman" pitchFamily="34" charset="0"/>
                <a:ea typeface="Times New Roman" pitchFamily="34" charset="-122"/>
                <a:cs typeface="Times New Roman" pitchFamily="34" charset="-120"/>
              </a:rPr>
              <a:t>12. Conclusion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Abstract</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005840"/>
            <a:ext cx="8229600" cy="3931920"/>
          </a:xfrm>
          <a:prstGeom prst="roundRect">
            <a:avLst>
              <a:gd name="adj" fmla="val 2326"/>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6" name="Text 4"/>
          <p:cNvSpPr/>
          <p:nvPr/>
        </p:nvSpPr>
        <p:spPr>
          <a:xfrm>
            <a:off x="640080" y="1097280"/>
            <a:ext cx="7863840" cy="3749040"/>
          </a:xfrm>
          <a:prstGeom prst="rect">
            <a:avLst/>
          </a:prstGeom>
          <a:noFill/>
          <a:ln/>
        </p:spPr>
        <p:txBody>
          <a:bodyPr wrap="square" rtlCol="0" anchor="t"/>
          <a:lstStyle/>
          <a:p>
            <a:pPr indent="0" marL="0">
              <a:buNone/>
            </a:pPr>
            <a:r>
              <a:rPr lang="en-US" sz="1600" dirty="0">
                <a:solidFill>
                  <a:srgbClr val="1A202C"/>
                </a:solidFill>
                <a:latin typeface="Times New Roman" pitchFamily="34" charset="0"/>
                <a:ea typeface="Times New Roman" pitchFamily="34" charset="-122"/>
                <a:cs typeface="Times New Roman" pitchFamily="34" charset="-120"/>
              </a:rPr>
              <a:t>This project presents the design and development of "Velvora Luxury", a comprehensive e-commerce platform specifically tailored for clothing business operations. The system leverages modern web technologies including Node.js for backend processing, Express.js for API management, and PostgreSQL (Supabase) for robust data storage and management.</a:t>
            </a:r>
            <a:endParaRPr lang="en-US" sz="1600" dirty="0"/>
          </a:p>
          <a:p>
            <a:pPr indent="0" marL="0">
              <a:buNone/>
            </a:pP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The platform encompasses complete online shopping functionality including user registration and authentication, product catalog browsing with category-based filtering, shopping cart management, secure payment processing through PayU integration, and a comprehensive admin dashboard for inventory and order management.</a:t>
            </a:r>
            <a:endParaRPr lang="en-US" sz="1600" dirty="0"/>
          </a:p>
          <a:p>
            <a:pPr indent="0" marL="0">
              <a:buNone/>
            </a:pP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Key features include real-time stock management, multi-size and multi-color product variants, responsive design for mobile and desktop platforms, automated email notifications for order confirmations, and seamless checkout experience. The database schema is designed to maintain data integrity while supporting efficient query operations for customer analytics and business intelligence.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Introduction</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005840"/>
            <a:ext cx="3931920" cy="3931920"/>
          </a:xfrm>
          <a:prstGeom prst="roundRect">
            <a:avLst>
              <a:gd name="adj" fmla="val 2326"/>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6" name="Text 4"/>
          <p:cNvSpPr/>
          <p:nvPr/>
        </p:nvSpPr>
        <p:spPr>
          <a:xfrm>
            <a:off x="640080" y="1097280"/>
            <a:ext cx="3566160" cy="457200"/>
          </a:xfrm>
          <a:prstGeom prst="rect">
            <a:avLst/>
          </a:prstGeom>
          <a:noFill/>
          <a:ln/>
        </p:spPr>
        <p:txBody>
          <a:bodyPr wrap="square" rtlCol="0" anchor="ctr"/>
          <a:lstStyle/>
          <a:p>
            <a:pPr indent="0" marL="0">
              <a:buNone/>
            </a:pPr>
            <a:r>
              <a:rPr lang="en-US" sz="2000" b="1" dirty="0">
                <a:solidFill>
                  <a:srgbClr val="1A365D"/>
                </a:solidFill>
                <a:latin typeface="Times New Roman" pitchFamily="34" charset="0"/>
                <a:ea typeface="Times New Roman" pitchFamily="34" charset="-122"/>
                <a:cs typeface="Times New Roman" pitchFamily="34" charset="-120"/>
              </a:rPr>
              <a:t>About Velvora</a:t>
            </a:r>
            <a:endParaRPr lang="en-US" sz="2000" dirty="0"/>
          </a:p>
        </p:txBody>
      </p:sp>
      <p:sp>
        <p:nvSpPr>
          <p:cNvPr id="7" name="Text 5"/>
          <p:cNvSpPr/>
          <p:nvPr/>
        </p:nvSpPr>
        <p:spPr>
          <a:xfrm>
            <a:off x="640080" y="1645920"/>
            <a:ext cx="3566160" cy="3108960"/>
          </a:xfrm>
          <a:prstGeom prst="rect">
            <a:avLst/>
          </a:prstGeom>
          <a:noFill/>
          <a:ln/>
        </p:spPr>
        <p:txBody>
          <a:bodyPr wrap="square" rtlCol="0" anchor="t"/>
          <a:lstStyle/>
          <a:p>
            <a:pPr indent="0" marL="0">
              <a:buNone/>
            </a:pPr>
            <a:r>
              <a:rPr lang="en-US" sz="1600" dirty="0">
                <a:solidFill>
                  <a:srgbClr val="1A202C"/>
                </a:solidFill>
                <a:latin typeface="Times New Roman" pitchFamily="34" charset="0"/>
                <a:ea typeface="Times New Roman" pitchFamily="34" charset="-122"/>
                <a:cs typeface="Times New Roman" pitchFamily="34" charset="-120"/>
              </a:rPr>
              <a:t>Velvora Luxury is a premium e-commerce solution designed for fashion retailers seeking to establish a compelling online presence. The platform embodies sophistication and elegance while delivering seamless shopping experiences.</a:t>
            </a:r>
            <a:endParaRPr lang="en-US" sz="1600" dirty="0"/>
          </a:p>
          <a:p>
            <a:pPr indent="0" marL="0">
              <a:buNone/>
            </a:pP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Built with scalability in mind, the system supports growing inventory catalogs and increasing transaction volumes without compromising performance.</a:t>
            </a:r>
            <a:endParaRPr lang="en-US" sz="1600" dirty="0"/>
          </a:p>
        </p:txBody>
      </p:sp>
      <p:sp>
        <p:nvSpPr>
          <p:cNvPr id="8" name="Shape 6"/>
          <p:cNvSpPr/>
          <p:nvPr/>
        </p:nvSpPr>
        <p:spPr>
          <a:xfrm>
            <a:off x="4754880" y="1005840"/>
            <a:ext cx="3931920" cy="3931920"/>
          </a:xfrm>
          <a:prstGeom prst="roundRect">
            <a:avLst>
              <a:gd name="adj" fmla="val 2326"/>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9" name="Text 7"/>
          <p:cNvSpPr/>
          <p:nvPr/>
        </p:nvSpPr>
        <p:spPr>
          <a:xfrm>
            <a:off x="4937760" y="1097280"/>
            <a:ext cx="3566160" cy="457200"/>
          </a:xfrm>
          <a:prstGeom prst="rect">
            <a:avLst/>
          </a:prstGeom>
          <a:noFill/>
          <a:ln/>
        </p:spPr>
        <p:txBody>
          <a:bodyPr wrap="square" rtlCol="0" anchor="ctr"/>
          <a:lstStyle/>
          <a:p>
            <a:pPr indent="0" marL="0">
              <a:buNone/>
            </a:pPr>
            <a:r>
              <a:rPr lang="en-US" sz="2000" b="1" dirty="0">
                <a:solidFill>
                  <a:srgbClr val="1A365D"/>
                </a:solidFill>
                <a:latin typeface="Times New Roman" pitchFamily="34" charset="0"/>
                <a:ea typeface="Times New Roman" pitchFamily="34" charset="-122"/>
                <a:cs typeface="Times New Roman" pitchFamily="34" charset="-120"/>
              </a:rPr>
              <a:t>Project Scope</a:t>
            </a:r>
            <a:endParaRPr lang="en-US" sz="2000" dirty="0"/>
          </a:p>
        </p:txBody>
      </p:sp>
      <p:sp>
        <p:nvSpPr>
          <p:cNvPr id="10" name="Text 8"/>
          <p:cNvSpPr/>
          <p:nvPr/>
        </p:nvSpPr>
        <p:spPr>
          <a:xfrm>
            <a:off x="4937760" y="1645920"/>
            <a:ext cx="3566160" cy="3108960"/>
          </a:xfrm>
          <a:prstGeom prst="rect">
            <a:avLst/>
          </a:prstGeom>
          <a:noFill/>
          <a:ln/>
        </p:spPr>
        <p:txBody>
          <a:bodyPr wrap="square" rtlCol="0" anchor="t"/>
          <a:lstStyle/>
          <a:p>
            <a:pPr indent="0" marL="0">
              <a:buNone/>
            </a:pPr>
            <a:r>
              <a:rPr lang="en-US" sz="1600" dirty="0">
                <a:solidFill>
                  <a:srgbClr val="1A202C"/>
                </a:solidFill>
                <a:latin typeface="Times New Roman" pitchFamily="34" charset="0"/>
                <a:ea typeface="Times New Roman" pitchFamily="34" charset="-122"/>
                <a:cs typeface="Times New Roman" pitchFamily="34" charset="-120"/>
              </a:rPr>
              <a:t>The project encompasses the development of a full-stack e-commerce application with the following core modules:</a:t>
            </a:r>
            <a:endParaRPr lang="en-US" sz="1600" dirty="0"/>
          </a:p>
          <a:p>
            <a:pPr indent="0" marL="0">
              <a:buNone/>
            </a:pP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 Customer-facing storefront</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 User authentication system</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 Product management catalog</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 Shopping cart functionality</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 Payment gateway integration</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 Order processing workflow</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 Admin dashboard</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 Email notification system</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 Database management layer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Need for the Study</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005840"/>
            <a:ext cx="8229600" cy="1234440"/>
          </a:xfrm>
          <a:prstGeom prst="roundRect">
            <a:avLst>
              <a:gd name="adj" fmla="val 7407"/>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6" name="Text 4"/>
          <p:cNvSpPr/>
          <p:nvPr/>
        </p:nvSpPr>
        <p:spPr>
          <a:xfrm>
            <a:off x="640080" y="1097280"/>
            <a:ext cx="7863840" cy="365760"/>
          </a:xfrm>
          <a:prstGeom prst="rect">
            <a:avLst/>
          </a:prstGeom>
          <a:noFill/>
          <a:ln/>
        </p:spPr>
        <p:txBody>
          <a:bodyPr wrap="square" rtlCol="0" anchor="ctr"/>
          <a:lstStyle/>
          <a:p>
            <a:pPr indent="0" marL="0">
              <a:buNone/>
            </a:pPr>
            <a:r>
              <a:rPr lang="en-US" sz="1800" b="1" dirty="0">
                <a:solidFill>
                  <a:srgbClr val="1A365D"/>
                </a:solidFill>
                <a:latin typeface="Times New Roman" pitchFamily="34" charset="0"/>
                <a:ea typeface="Times New Roman" pitchFamily="34" charset="-122"/>
                <a:cs typeface="Times New Roman" pitchFamily="34" charset="-120"/>
              </a:rPr>
              <a:t>Business Perspective</a:t>
            </a:r>
            <a:endParaRPr lang="en-US" sz="1800" dirty="0"/>
          </a:p>
        </p:txBody>
      </p:sp>
      <p:sp>
        <p:nvSpPr>
          <p:cNvPr id="7" name="Text 5"/>
          <p:cNvSpPr/>
          <p:nvPr/>
        </p:nvSpPr>
        <p:spPr>
          <a:xfrm>
            <a:off x="640080" y="1508760"/>
            <a:ext cx="7863840" cy="640080"/>
          </a:xfrm>
          <a:prstGeom prst="rect">
            <a:avLst/>
          </a:prstGeom>
          <a:noFill/>
          <a:ln/>
        </p:spPr>
        <p:txBody>
          <a:bodyPr wrap="square" rtlCol="0" anchor="ctr"/>
          <a:lstStyle/>
          <a:p>
            <a:pPr indent="0" marL="0">
              <a:buNone/>
            </a:pPr>
            <a:r>
              <a:rPr lang="en-US" sz="1400" dirty="0">
                <a:solidFill>
                  <a:srgbClr val="1A202C"/>
                </a:solidFill>
                <a:latin typeface="Times New Roman" pitchFamily="34" charset="0"/>
                <a:ea typeface="Times New Roman" pitchFamily="34" charset="-122"/>
                <a:cs typeface="Times New Roman" pitchFamily="34" charset="-120"/>
              </a:rPr>
              <a:t>Traditional brick-and-mortar clothing stores face increasing operational costs and limited market reach. An online presence has become essential for business survival and growth in the competitive retail landscape.</a:t>
            </a:r>
            <a:endParaRPr lang="en-US" sz="1400" dirty="0"/>
          </a:p>
        </p:txBody>
      </p:sp>
      <p:sp>
        <p:nvSpPr>
          <p:cNvPr id="8" name="Shape 6"/>
          <p:cNvSpPr/>
          <p:nvPr/>
        </p:nvSpPr>
        <p:spPr>
          <a:xfrm>
            <a:off x="457200" y="2331720"/>
            <a:ext cx="8229600" cy="1234440"/>
          </a:xfrm>
          <a:prstGeom prst="roundRect">
            <a:avLst>
              <a:gd name="adj" fmla="val 7407"/>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9" name="Text 7"/>
          <p:cNvSpPr/>
          <p:nvPr/>
        </p:nvSpPr>
        <p:spPr>
          <a:xfrm>
            <a:off x="640080" y="2423160"/>
            <a:ext cx="7863840" cy="365760"/>
          </a:xfrm>
          <a:prstGeom prst="rect">
            <a:avLst/>
          </a:prstGeom>
          <a:noFill/>
          <a:ln/>
        </p:spPr>
        <p:txBody>
          <a:bodyPr wrap="square" rtlCol="0" anchor="ctr"/>
          <a:lstStyle/>
          <a:p>
            <a:pPr indent="0" marL="0">
              <a:buNone/>
            </a:pPr>
            <a:r>
              <a:rPr lang="en-US" sz="1800" b="1" dirty="0">
                <a:solidFill>
                  <a:srgbClr val="1A365D"/>
                </a:solidFill>
                <a:latin typeface="Times New Roman" pitchFamily="34" charset="0"/>
                <a:ea typeface="Times New Roman" pitchFamily="34" charset="-122"/>
                <a:cs typeface="Times New Roman" pitchFamily="34" charset="-120"/>
              </a:rPr>
              <a:t>Customer Expectations</a:t>
            </a:r>
            <a:endParaRPr lang="en-US" sz="1800" dirty="0"/>
          </a:p>
        </p:txBody>
      </p:sp>
      <p:sp>
        <p:nvSpPr>
          <p:cNvPr id="10" name="Text 8"/>
          <p:cNvSpPr/>
          <p:nvPr/>
        </p:nvSpPr>
        <p:spPr>
          <a:xfrm>
            <a:off x="640080" y="2834640"/>
            <a:ext cx="7863840" cy="640080"/>
          </a:xfrm>
          <a:prstGeom prst="rect">
            <a:avLst/>
          </a:prstGeom>
          <a:noFill/>
          <a:ln/>
        </p:spPr>
        <p:txBody>
          <a:bodyPr wrap="square" rtlCol="0" anchor="ctr"/>
          <a:lstStyle/>
          <a:p>
            <a:pPr indent="0" marL="0">
              <a:buNone/>
            </a:pPr>
            <a:r>
              <a:rPr lang="en-US" sz="1400" dirty="0">
                <a:solidFill>
                  <a:srgbClr val="1A202C"/>
                </a:solidFill>
                <a:latin typeface="Times New Roman" pitchFamily="34" charset="0"/>
                <a:ea typeface="Times New Roman" pitchFamily="34" charset="-122"/>
                <a:cs typeface="Times New Roman" pitchFamily="34" charset="-120"/>
              </a:rPr>
              <a:t>Modern consumers expect convenient 24/7 shopping access, detailed product information, multiple payment options, and real-time order tracking capabilities that only digital platforms can provide.</a:t>
            </a:r>
            <a:endParaRPr lang="en-US" sz="1400" dirty="0"/>
          </a:p>
        </p:txBody>
      </p:sp>
      <p:sp>
        <p:nvSpPr>
          <p:cNvPr id="11" name="Shape 9"/>
          <p:cNvSpPr/>
          <p:nvPr/>
        </p:nvSpPr>
        <p:spPr>
          <a:xfrm>
            <a:off x="457200" y="3657600"/>
            <a:ext cx="8229600" cy="1234440"/>
          </a:xfrm>
          <a:prstGeom prst="roundRect">
            <a:avLst>
              <a:gd name="adj" fmla="val 7407"/>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12" name="Text 10"/>
          <p:cNvSpPr/>
          <p:nvPr/>
        </p:nvSpPr>
        <p:spPr>
          <a:xfrm>
            <a:off x="640080" y="3749040"/>
            <a:ext cx="7863840" cy="365760"/>
          </a:xfrm>
          <a:prstGeom prst="rect">
            <a:avLst/>
          </a:prstGeom>
          <a:noFill/>
          <a:ln/>
        </p:spPr>
        <p:txBody>
          <a:bodyPr wrap="square" rtlCol="0" anchor="ctr"/>
          <a:lstStyle/>
          <a:p>
            <a:pPr indent="0" marL="0">
              <a:buNone/>
            </a:pPr>
            <a:r>
              <a:rPr lang="en-US" sz="1800" b="1" dirty="0">
                <a:solidFill>
                  <a:srgbClr val="1A365D"/>
                </a:solidFill>
                <a:latin typeface="Times New Roman" pitchFamily="34" charset="0"/>
                <a:ea typeface="Times New Roman" pitchFamily="34" charset="-122"/>
                <a:cs typeface="Times New Roman" pitchFamily="34" charset="-120"/>
              </a:rPr>
              <a:t>Technical Requirements</a:t>
            </a:r>
            <a:endParaRPr lang="en-US" sz="1800" dirty="0"/>
          </a:p>
        </p:txBody>
      </p:sp>
      <p:sp>
        <p:nvSpPr>
          <p:cNvPr id="13" name="Text 11"/>
          <p:cNvSpPr/>
          <p:nvPr/>
        </p:nvSpPr>
        <p:spPr>
          <a:xfrm>
            <a:off x="640080" y="4160520"/>
            <a:ext cx="7863840" cy="640080"/>
          </a:xfrm>
          <a:prstGeom prst="rect">
            <a:avLst/>
          </a:prstGeom>
          <a:noFill/>
          <a:ln/>
        </p:spPr>
        <p:txBody>
          <a:bodyPr wrap="square" rtlCol="0" anchor="ctr"/>
          <a:lstStyle/>
          <a:p>
            <a:pPr indent="0" marL="0">
              <a:buNone/>
            </a:pPr>
            <a:r>
              <a:rPr lang="en-US" sz="1400" dirty="0">
                <a:solidFill>
                  <a:srgbClr val="1A202C"/>
                </a:solidFill>
                <a:latin typeface="Times New Roman" pitchFamily="34" charset="0"/>
                <a:ea typeface="Times New Roman" pitchFamily="34" charset="-122"/>
                <a:cs typeface="Times New Roman" pitchFamily="34" charset="-120"/>
              </a:rPr>
              <a:t>Effective e-commerce operations require robust database systems capable of managing complex product attributes, customer data, transaction records, and inventory levels with high reliability.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Objectives</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097280"/>
            <a:ext cx="457200" cy="457200"/>
          </a:xfrm>
          <a:prstGeom prst="ellipse">
            <a:avLst/>
          </a:prstGeom>
          <a:solidFill>
            <a:srgbClr val="E53E3E"/>
          </a:solidFill>
          <a:ln/>
        </p:spPr>
      </p:sp>
      <p:sp>
        <p:nvSpPr>
          <p:cNvPr id="6" name="Text 4"/>
          <p:cNvSpPr/>
          <p:nvPr/>
        </p:nvSpPr>
        <p:spPr>
          <a:xfrm>
            <a:off x="457200" y="1097280"/>
            <a:ext cx="457200" cy="45720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01</a:t>
            </a:r>
            <a:endParaRPr lang="en-US" sz="1400" dirty="0"/>
          </a:p>
        </p:txBody>
      </p:sp>
      <p:sp>
        <p:nvSpPr>
          <p:cNvPr id="7" name="Text 5"/>
          <p:cNvSpPr/>
          <p:nvPr/>
        </p:nvSpPr>
        <p:spPr>
          <a:xfrm>
            <a:off x="1005840" y="100584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Develop User Registration System</a:t>
            </a:r>
            <a:endParaRPr lang="en-US" sz="1600" dirty="0"/>
          </a:p>
        </p:txBody>
      </p:sp>
      <p:sp>
        <p:nvSpPr>
          <p:cNvPr id="8" name="Text 6"/>
          <p:cNvSpPr/>
          <p:nvPr/>
        </p:nvSpPr>
        <p:spPr>
          <a:xfrm>
            <a:off x="1005840" y="1371600"/>
            <a:ext cx="3657600" cy="82296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Create secure customer account creation with email verification and password encryption</a:t>
            </a:r>
            <a:endParaRPr lang="en-US" sz="1200" dirty="0"/>
          </a:p>
        </p:txBody>
      </p:sp>
      <p:sp>
        <p:nvSpPr>
          <p:cNvPr id="9" name="Shape 7"/>
          <p:cNvSpPr/>
          <p:nvPr/>
        </p:nvSpPr>
        <p:spPr>
          <a:xfrm>
            <a:off x="4754880" y="1097280"/>
            <a:ext cx="457200" cy="457200"/>
          </a:xfrm>
          <a:prstGeom prst="ellipse">
            <a:avLst/>
          </a:prstGeom>
          <a:solidFill>
            <a:srgbClr val="E53E3E"/>
          </a:solidFill>
          <a:ln/>
        </p:spPr>
      </p:sp>
      <p:sp>
        <p:nvSpPr>
          <p:cNvPr id="10" name="Text 8"/>
          <p:cNvSpPr/>
          <p:nvPr/>
        </p:nvSpPr>
        <p:spPr>
          <a:xfrm>
            <a:off x="4754880" y="1097280"/>
            <a:ext cx="457200" cy="45720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02</a:t>
            </a:r>
            <a:endParaRPr lang="en-US" sz="1400" dirty="0"/>
          </a:p>
        </p:txBody>
      </p:sp>
      <p:sp>
        <p:nvSpPr>
          <p:cNvPr id="11" name="Text 9"/>
          <p:cNvSpPr/>
          <p:nvPr/>
        </p:nvSpPr>
        <p:spPr>
          <a:xfrm>
            <a:off x="5303520" y="100584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Implement Product Catalog</a:t>
            </a:r>
            <a:endParaRPr lang="en-US" sz="1600" dirty="0"/>
          </a:p>
        </p:txBody>
      </p:sp>
      <p:sp>
        <p:nvSpPr>
          <p:cNvPr id="12" name="Text 10"/>
          <p:cNvSpPr/>
          <p:nvPr/>
        </p:nvSpPr>
        <p:spPr>
          <a:xfrm>
            <a:off x="5303520" y="1371600"/>
            <a:ext cx="3657600" cy="82296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Build comprehensive product database with categories, variants, pricing, and inventory tracking</a:t>
            </a:r>
            <a:endParaRPr lang="en-US" sz="1200" dirty="0"/>
          </a:p>
        </p:txBody>
      </p:sp>
      <p:sp>
        <p:nvSpPr>
          <p:cNvPr id="13" name="Shape 11"/>
          <p:cNvSpPr/>
          <p:nvPr/>
        </p:nvSpPr>
        <p:spPr>
          <a:xfrm>
            <a:off x="457200" y="2423160"/>
            <a:ext cx="457200" cy="457200"/>
          </a:xfrm>
          <a:prstGeom prst="ellipse">
            <a:avLst/>
          </a:prstGeom>
          <a:solidFill>
            <a:srgbClr val="E53E3E"/>
          </a:solidFill>
          <a:ln/>
        </p:spPr>
      </p:sp>
      <p:sp>
        <p:nvSpPr>
          <p:cNvPr id="14" name="Text 12"/>
          <p:cNvSpPr/>
          <p:nvPr/>
        </p:nvSpPr>
        <p:spPr>
          <a:xfrm>
            <a:off x="457200" y="2423160"/>
            <a:ext cx="457200" cy="45720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03</a:t>
            </a:r>
            <a:endParaRPr lang="en-US" sz="1400" dirty="0"/>
          </a:p>
        </p:txBody>
      </p:sp>
      <p:sp>
        <p:nvSpPr>
          <p:cNvPr id="15" name="Text 13"/>
          <p:cNvSpPr/>
          <p:nvPr/>
        </p:nvSpPr>
        <p:spPr>
          <a:xfrm>
            <a:off x="1005840" y="233172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Design Shopping Cart</a:t>
            </a:r>
            <a:endParaRPr lang="en-US" sz="1600" dirty="0"/>
          </a:p>
        </p:txBody>
      </p:sp>
      <p:sp>
        <p:nvSpPr>
          <p:cNvPr id="16" name="Text 14"/>
          <p:cNvSpPr/>
          <p:nvPr/>
        </p:nvSpPr>
        <p:spPr>
          <a:xfrm>
            <a:off x="1005840" y="2697480"/>
            <a:ext cx="3657600" cy="82296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Enable customers to add, modify, and manage items before checkout with persistent cart state</a:t>
            </a:r>
            <a:endParaRPr lang="en-US" sz="1200" dirty="0"/>
          </a:p>
        </p:txBody>
      </p:sp>
      <p:sp>
        <p:nvSpPr>
          <p:cNvPr id="17" name="Shape 15"/>
          <p:cNvSpPr/>
          <p:nvPr/>
        </p:nvSpPr>
        <p:spPr>
          <a:xfrm>
            <a:off x="4754880" y="2423160"/>
            <a:ext cx="457200" cy="457200"/>
          </a:xfrm>
          <a:prstGeom prst="ellipse">
            <a:avLst/>
          </a:prstGeom>
          <a:solidFill>
            <a:srgbClr val="E53E3E"/>
          </a:solidFill>
          <a:ln/>
        </p:spPr>
      </p:sp>
      <p:sp>
        <p:nvSpPr>
          <p:cNvPr id="18" name="Text 16"/>
          <p:cNvSpPr/>
          <p:nvPr/>
        </p:nvSpPr>
        <p:spPr>
          <a:xfrm>
            <a:off x="4754880" y="2423160"/>
            <a:ext cx="457200" cy="45720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04</a:t>
            </a:r>
            <a:endParaRPr lang="en-US" sz="1400" dirty="0"/>
          </a:p>
        </p:txBody>
      </p:sp>
      <p:sp>
        <p:nvSpPr>
          <p:cNvPr id="19" name="Text 17"/>
          <p:cNvSpPr/>
          <p:nvPr/>
        </p:nvSpPr>
        <p:spPr>
          <a:xfrm>
            <a:off x="5303520" y="233172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Integrate Payment Gateway</a:t>
            </a:r>
            <a:endParaRPr lang="en-US" sz="1600" dirty="0"/>
          </a:p>
        </p:txBody>
      </p:sp>
      <p:sp>
        <p:nvSpPr>
          <p:cNvPr id="20" name="Text 18"/>
          <p:cNvSpPr/>
          <p:nvPr/>
        </p:nvSpPr>
        <p:spPr>
          <a:xfrm>
            <a:off x="5303520" y="2697480"/>
            <a:ext cx="3657600" cy="82296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Connect PayU payment processing for secure online transactions</a:t>
            </a:r>
            <a:endParaRPr lang="en-US" sz="1200" dirty="0"/>
          </a:p>
        </p:txBody>
      </p:sp>
      <p:sp>
        <p:nvSpPr>
          <p:cNvPr id="21" name="Shape 19"/>
          <p:cNvSpPr/>
          <p:nvPr/>
        </p:nvSpPr>
        <p:spPr>
          <a:xfrm>
            <a:off x="457200" y="3749040"/>
            <a:ext cx="457200" cy="457200"/>
          </a:xfrm>
          <a:prstGeom prst="ellipse">
            <a:avLst/>
          </a:prstGeom>
          <a:solidFill>
            <a:srgbClr val="E53E3E"/>
          </a:solidFill>
          <a:ln/>
        </p:spPr>
      </p:sp>
      <p:sp>
        <p:nvSpPr>
          <p:cNvPr id="22" name="Text 20"/>
          <p:cNvSpPr/>
          <p:nvPr/>
        </p:nvSpPr>
        <p:spPr>
          <a:xfrm>
            <a:off x="457200" y="3749040"/>
            <a:ext cx="457200" cy="45720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05</a:t>
            </a:r>
            <a:endParaRPr lang="en-US" sz="1400" dirty="0"/>
          </a:p>
        </p:txBody>
      </p:sp>
      <p:sp>
        <p:nvSpPr>
          <p:cNvPr id="23" name="Text 21"/>
          <p:cNvSpPr/>
          <p:nvPr/>
        </p:nvSpPr>
        <p:spPr>
          <a:xfrm>
            <a:off x="1005840" y="365760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Create Admin Dashboard</a:t>
            </a:r>
            <a:endParaRPr lang="en-US" sz="1600" dirty="0"/>
          </a:p>
        </p:txBody>
      </p:sp>
      <p:sp>
        <p:nvSpPr>
          <p:cNvPr id="24" name="Text 22"/>
          <p:cNvSpPr/>
          <p:nvPr/>
        </p:nvSpPr>
        <p:spPr>
          <a:xfrm>
            <a:off x="1005840" y="4023360"/>
            <a:ext cx="3657600" cy="82296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Develop administrative interface for inventory, orders, and customer management</a:t>
            </a:r>
            <a:endParaRPr lang="en-US" sz="1200" dirty="0"/>
          </a:p>
        </p:txBody>
      </p:sp>
      <p:sp>
        <p:nvSpPr>
          <p:cNvPr id="25" name="Shape 23"/>
          <p:cNvSpPr/>
          <p:nvPr/>
        </p:nvSpPr>
        <p:spPr>
          <a:xfrm>
            <a:off x="4754880" y="3749040"/>
            <a:ext cx="457200" cy="457200"/>
          </a:xfrm>
          <a:prstGeom prst="ellipse">
            <a:avLst/>
          </a:prstGeom>
          <a:solidFill>
            <a:srgbClr val="E53E3E"/>
          </a:solidFill>
          <a:ln/>
        </p:spPr>
      </p:sp>
      <p:sp>
        <p:nvSpPr>
          <p:cNvPr id="26" name="Text 24"/>
          <p:cNvSpPr/>
          <p:nvPr/>
        </p:nvSpPr>
        <p:spPr>
          <a:xfrm>
            <a:off x="4754880" y="3749040"/>
            <a:ext cx="457200" cy="45720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06</a:t>
            </a:r>
            <a:endParaRPr lang="en-US" sz="1400" dirty="0"/>
          </a:p>
        </p:txBody>
      </p:sp>
      <p:sp>
        <p:nvSpPr>
          <p:cNvPr id="27" name="Text 25"/>
          <p:cNvSpPr/>
          <p:nvPr/>
        </p:nvSpPr>
        <p:spPr>
          <a:xfrm>
            <a:off x="5303520" y="365760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Establish Database Management</a:t>
            </a:r>
            <a:endParaRPr lang="en-US" sz="1600" dirty="0"/>
          </a:p>
        </p:txBody>
      </p:sp>
      <p:sp>
        <p:nvSpPr>
          <p:cNvPr id="28" name="Text 26"/>
          <p:cNvSpPr/>
          <p:nvPr/>
        </p:nvSpPr>
        <p:spPr>
          <a:xfrm>
            <a:off x="5303520" y="4023360"/>
            <a:ext cx="3657600" cy="82296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Implement PostgreSQL database with proper schema, relationships, and query optimization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Literature Survey</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005840"/>
            <a:ext cx="3931920" cy="1920240"/>
          </a:xfrm>
          <a:prstGeom prst="roundRect">
            <a:avLst>
              <a:gd name="adj" fmla="val 4762"/>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6" name="Text 4"/>
          <p:cNvSpPr/>
          <p:nvPr/>
        </p:nvSpPr>
        <p:spPr>
          <a:xfrm>
            <a:off x="594360" y="109728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Backend Technologies</a:t>
            </a:r>
            <a:endParaRPr lang="en-US" sz="1600" dirty="0"/>
          </a:p>
        </p:txBody>
      </p:sp>
      <p:sp>
        <p:nvSpPr>
          <p:cNvPr id="7" name="Text 5"/>
          <p:cNvSpPr/>
          <p:nvPr/>
        </p:nvSpPr>
        <p:spPr>
          <a:xfrm>
            <a:off x="594360" y="1508760"/>
            <a:ext cx="3657600" cy="1280160"/>
          </a:xfrm>
          <a:prstGeom prst="rect">
            <a:avLst/>
          </a:prstGeom>
          <a:noFill/>
          <a:ln/>
        </p:spPr>
        <p:txBody>
          <a:bodyPr wrap="square" rtlCol="0" anchor="ctr"/>
          <a:lstStyle/>
          <a:p>
            <a:pPr indent="0" marL="0">
              <a:buNone/>
            </a:pPr>
            <a:r>
              <a:rPr lang="en-US" sz="1300" dirty="0">
                <a:solidFill>
                  <a:srgbClr val="1A202C"/>
                </a:solidFill>
                <a:latin typeface="Times New Roman" pitchFamily="34" charset="0"/>
                <a:ea typeface="Times New Roman" pitchFamily="34" charset="-122"/>
                <a:cs typeface="Times New Roman" pitchFamily="34" charset="-120"/>
              </a:rPr>
              <a:t>• Node.js: Server-side JavaScript runtime</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Express.js: Minimalist web framework</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PostgreSQL: Advanced relational database</a:t>
            </a:r>
            <a:endParaRPr lang="en-US" sz="1300" dirty="0"/>
          </a:p>
        </p:txBody>
      </p:sp>
      <p:sp>
        <p:nvSpPr>
          <p:cNvPr id="8" name="Shape 6"/>
          <p:cNvSpPr/>
          <p:nvPr/>
        </p:nvSpPr>
        <p:spPr>
          <a:xfrm>
            <a:off x="4754880" y="1005840"/>
            <a:ext cx="3931920" cy="1920240"/>
          </a:xfrm>
          <a:prstGeom prst="roundRect">
            <a:avLst>
              <a:gd name="adj" fmla="val 4762"/>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9" name="Text 7"/>
          <p:cNvSpPr/>
          <p:nvPr/>
        </p:nvSpPr>
        <p:spPr>
          <a:xfrm>
            <a:off x="4892040" y="109728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Frontend Technologies</a:t>
            </a:r>
            <a:endParaRPr lang="en-US" sz="1600" dirty="0"/>
          </a:p>
        </p:txBody>
      </p:sp>
      <p:sp>
        <p:nvSpPr>
          <p:cNvPr id="10" name="Text 8"/>
          <p:cNvSpPr/>
          <p:nvPr/>
        </p:nvSpPr>
        <p:spPr>
          <a:xfrm>
            <a:off x="4892040" y="1508760"/>
            <a:ext cx="3657600" cy="1280160"/>
          </a:xfrm>
          <a:prstGeom prst="rect">
            <a:avLst/>
          </a:prstGeom>
          <a:noFill/>
          <a:ln/>
        </p:spPr>
        <p:txBody>
          <a:bodyPr wrap="square" rtlCol="0" anchor="ctr"/>
          <a:lstStyle/>
          <a:p>
            <a:pPr indent="0" marL="0">
              <a:buNone/>
            </a:pPr>
            <a:r>
              <a:rPr lang="en-US" sz="1300" dirty="0">
                <a:solidFill>
                  <a:srgbClr val="1A202C"/>
                </a:solidFill>
                <a:latin typeface="Times New Roman" pitchFamily="34" charset="0"/>
                <a:ea typeface="Times New Roman" pitchFamily="34" charset="-122"/>
                <a:cs typeface="Times New Roman" pitchFamily="34" charset="-120"/>
              </a:rPr>
              <a:t>• HTML5/CSS3: Standard markup</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JavaScript (ES6+): Dynamic scripting</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PWA: Service workers for offline</a:t>
            </a:r>
            <a:endParaRPr lang="en-US" sz="1300" dirty="0"/>
          </a:p>
        </p:txBody>
      </p:sp>
      <p:sp>
        <p:nvSpPr>
          <p:cNvPr id="11" name="Shape 9"/>
          <p:cNvSpPr/>
          <p:nvPr/>
        </p:nvSpPr>
        <p:spPr>
          <a:xfrm>
            <a:off x="457200" y="3017520"/>
            <a:ext cx="3931920" cy="1920240"/>
          </a:xfrm>
          <a:prstGeom prst="roundRect">
            <a:avLst>
              <a:gd name="adj" fmla="val 4762"/>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12" name="Text 10"/>
          <p:cNvSpPr/>
          <p:nvPr/>
        </p:nvSpPr>
        <p:spPr>
          <a:xfrm>
            <a:off x="594360" y="310896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Database Systems</a:t>
            </a:r>
            <a:endParaRPr lang="en-US" sz="1600" dirty="0"/>
          </a:p>
        </p:txBody>
      </p:sp>
      <p:sp>
        <p:nvSpPr>
          <p:cNvPr id="13" name="Text 11"/>
          <p:cNvSpPr/>
          <p:nvPr/>
        </p:nvSpPr>
        <p:spPr>
          <a:xfrm>
            <a:off x="594360" y="3520440"/>
            <a:ext cx="3657600" cy="1280160"/>
          </a:xfrm>
          <a:prstGeom prst="rect">
            <a:avLst/>
          </a:prstGeom>
          <a:noFill/>
          <a:ln/>
        </p:spPr>
        <p:txBody>
          <a:bodyPr wrap="square" rtlCol="0" anchor="ctr"/>
          <a:lstStyle/>
          <a:p>
            <a:pPr indent="0" marL="0">
              <a:buNone/>
            </a:pPr>
            <a:r>
              <a:rPr lang="en-US" sz="1300" dirty="0">
                <a:solidFill>
                  <a:srgbClr val="1A202C"/>
                </a:solidFill>
                <a:latin typeface="Times New Roman" pitchFamily="34" charset="0"/>
                <a:ea typeface="Times New Roman" pitchFamily="34" charset="-122"/>
                <a:cs typeface="Times New Roman" pitchFamily="34" charset="-120"/>
              </a:rPr>
              <a:t>• Supabase: PostgreSQL BaaS</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SQL.js: Client-side SQLite</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Connection Pooling for scalability</a:t>
            </a:r>
            <a:endParaRPr lang="en-US" sz="1300" dirty="0"/>
          </a:p>
        </p:txBody>
      </p:sp>
      <p:sp>
        <p:nvSpPr>
          <p:cNvPr id="14" name="Shape 12"/>
          <p:cNvSpPr/>
          <p:nvPr/>
        </p:nvSpPr>
        <p:spPr>
          <a:xfrm>
            <a:off x="4754880" y="3017520"/>
            <a:ext cx="3931920" cy="1920240"/>
          </a:xfrm>
          <a:prstGeom prst="roundRect">
            <a:avLst>
              <a:gd name="adj" fmla="val 4762"/>
            </a:avLst>
          </a:prstGeom>
          <a:solidFill>
            <a:srgbClr val="EBF8FF"/>
          </a:solidFill>
          <a:ln w="12700">
            <a:solidFill>
              <a:srgbClr val="2C5282"/>
            </a:solidFill>
            <a:prstDash val="solid"/>
          </a:ln>
          <a:effectLst>
            <a:outerShdw sx="100000" sy="100000" kx="0" ky="0" algn="bl" rotWithShape="0" blurRad="50800" dist="25400" dir="8100000">
              <a:srgbClr val="000000">
                <a:alpha val="20000"/>
              </a:srgbClr>
            </a:outerShdw>
          </a:effectLst>
        </p:spPr>
      </p:sp>
      <p:sp>
        <p:nvSpPr>
          <p:cNvPr id="15" name="Text 13"/>
          <p:cNvSpPr/>
          <p:nvPr/>
        </p:nvSpPr>
        <p:spPr>
          <a:xfrm>
            <a:off x="4892040" y="3108960"/>
            <a:ext cx="36576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Payment Integration</a:t>
            </a:r>
            <a:endParaRPr lang="en-US" sz="1600" dirty="0"/>
          </a:p>
        </p:txBody>
      </p:sp>
      <p:sp>
        <p:nvSpPr>
          <p:cNvPr id="16" name="Text 14"/>
          <p:cNvSpPr/>
          <p:nvPr/>
        </p:nvSpPr>
        <p:spPr>
          <a:xfrm>
            <a:off x="4892040" y="3520440"/>
            <a:ext cx="3657600" cy="1280160"/>
          </a:xfrm>
          <a:prstGeom prst="rect">
            <a:avLst/>
          </a:prstGeom>
          <a:noFill/>
          <a:ln/>
        </p:spPr>
        <p:txBody>
          <a:bodyPr wrap="square" rtlCol="0" anchor="ctr"/>
          <a:lstStyle/>
          <a:p>
            <a:pPr indent="0" marL="0">
              <a:buNone/>
            </a:pPr>
            <a:r>
              <a:rPr lang="en-US" sz="1300" dirty="0">
                <a:solidFill>
                  <a:srgbClr val="1A202C"/>
                </a:solidFill>
                <a:latin typeface="Times New Roman" pitchFamily="34" charset="0"/>
                <a:ea typeface="Times New Roman" pitchFamily="34" charset="-122"/>
                <a:cs typeface="Times New Roman" pitchFamily="34" charset="-120"/>
              </a:rPr>
              <a:t>• PayU India: Secure gateway</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PCI DSS Compliance</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Multiple payment options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400" b="1" dirty="0">
                <a:solidFill>
                  <a:srgbClr val="FFFFFF"/>
                </a:solidFill>
                <a:latin typeface="Times New Roman" pitchFamily="34" charset="0"/>
                <a:ea typeface="Times New Roman" pitchFamily="34" charset="-122"/>
                <a:cs typeface="Times New Roman" pitchFamily="34" charset="-120"/>
              </a:rPr>
              <a:t>Methodology Used to Achieve Objectives</a:t>
            </a:r>
            <a:endParaRPr lang="en-US" sz="24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005840"/>
            <a:ext cx="2057400" cy="822960"/>
          </a:xfrm>
          <a:prstGeom prst="rect">
            <a:avLst/>
          </a:prstGeom>
          <a:solidFill>
            <a:srgbClr val="2C5282"/>
          </a:solidFill>
          <a:ln/>
        </p:spPr>
      </p:sp>
      <p:sp>
        <p:nvSpPr>
          <p:cNvPr id="6" name="Text 4"/>
          <p:cNvSpPr/>
          <p:nvPr/>
        </p:nvSpPr>
        <p:spPr>
          <a:xfrm>
            <a:off x="457200" y="1005840"/>
            <a:ext cx="2057400" cy="41148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Phase 1</a:t>
            </a:r>
            <a:endParaRPr lang="en-US" sz="1400" dirty="0"/>
          </a:p>
        </p:txBody>
      </p:sp>
      <p:sp>
        <p:nvSpPr>
          <p:cNvPr id="7" name="Text 5"/>
          <p:cNvSpPr/>
          <p:nvPr/>
        </p:nvSpPr>
        <p:spPr>
          <a:xfrm>
            <a:off x="457200" y="1417320"/>
            <a:ext cx="2057400" cy="365760"/>
          </a:xfrm>
          <a:prstGeom prst="rect">
            <a:avLst/>
          </a:prstGeom>
          <a:noFill/>
          <a:ln/>
        </p:spPr>
        <p:txBody>
          <a:bodyPr wrap="square" rtlCol="0" anchor="ctr"/>
          <a:lstStyle/>
          <a:p>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Requirements Analysis</a:t>
            </a:r>
            <a:endParaRPr lang="en-US" sz="1100" dirty="0"/>
          </a:p>
        </p:txBody>
      </p:sp>
      <p:sp>
        <p:nvSpPr>
          <p:cNvPr id="8" name="Shape 6"/>
          <p:cNvSpPr/>
          <p:nvPr/>
        </p:nvSpPr>
        <p:spPr>
          <a:xfrm>
            <a:off x="457200" y="1874520"/>
            <a:ext cx="2057400" cy="1463040"/>
          </a:xfrm>
          <a:prstGeom prst="roundRect">
            <a:avLst>
              <a:gd name="adj" fmla="val 3125"/>
            </a:avLst>
          </a:prstGeom>
          <a:solidFill>
            <a:srgbClr val="EBF8FF"/>
          </a:solidFill>
          <a:ln w="12700">
            <a:solidFill>
              <a:srgbClr val="2C5282"/>
            </a:solidFill>
            <a:prstDash val="solid"/>
          </a:ln>
        </p:spPr>
      </p:sp>
      <p:sp>
        <p:nvSpPr>
          <p:cNvPr id="9" name="Text 7"/>
          <p:cNvSpPr/>
          <p:nvPr/>
        </p:nvSpPr>
        <p:spPr>
          <a:xfrm>
            <a:off x="548640" y="1965960"/>
            <a:ext cx="1874520" cy="1280160"/>
          </a:xfrm>
          <a:prstGeom prst="rect">
            <a:avLst/>
          </a:prstGeom>
          <a:noFill/>
          <a:ln/>
        </p:spPr>
        <p:txBody>
          <a:bodyPr wrap="square" rtlCol="0" anchor="ct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 Stakeholder interviews</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System requirements</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Use case diagrams</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DB schema design</a:t>
            </a:r>
            <a:endParaRPr lang="en-US" sz="1100" dirty="0"/>
          </a:p>
        </p:txBody>
      </p:sp>
      <p:sp>
        <p:nvSpPr>
          <p:cNvPr id="10" name="Shape 8"/>
          <p:cNvSpPr/>
          <p:nvPr/>
        </p:nvSpPr>
        <p:spPr>
          <a:xfrm>
            <a:off x="2606040" y="1005840"/>
            <a:ext cx="2057400" cy="822960"/>
          </a:xfrm>
          <a:prstGeom prst="rect">
            <a:avLst/>
          </a:prstGeom>
          <a:solidFill>
            <a:srgbClr val="2C5282"/>
          </a:solidFill>
          <a:ln/>
        </p:spPr>
      </p:sp>
      <p:sp>
        <p:nvSpPr>
          <p:cNvPr id="11" name="Text 9"/>
          <p:cNvSpPr/>
          <p:nvPr/>
        </p:nvSpPr>
        <p:spPr>
          <a:xfrm>
            <a:off x="2606040" y="1005840"/>
            <a:ext cx="2057400" cy="41148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Phase 2</a:t>
            </a:r>
            <a:endParaRPr lang="en-US" sz="1400" dirty="0"/>
          </a:p>
        </p:txBody>
      </p:sp>
      <p:sp>
        <p:nvSpPr>
          <p:cNvPr id="12" name="Text 10"/>
          <p:cNvSpPr/>
          <p:nvPr/>
        </p:nvSpPr>
        <p:spPr>
          <a:xfrm>
            <a:off x="2606040" y="1417320"/>
            <a:ext cx="2057400" cy="365760"/>
          </a:xfrm>
          <a:prstGeom prst="rect">
            <a:avLst/>
          </a:prstGeom>
          <a:noFill/>
          <a:ln/>
        </p:spPr>
        <p:txBody>
          <a:bodyPr wrap="square" rtlCol="0" anchor="ctr"/>
          <a:lstStyle/>
          <a:p>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Design</a:t>
            </a:r>
            <a:endParaRPr lang="en-US" sz="1100" dirty="0"/>
          </a:p>
        </p:txBody>
      </p:sp>
      <p:sp>
        <p:nvSpPr>
          <p:cNvPr id="13" name="Shape 11"/>
          <p:cNvSpPr/>
          <p:nvPr/>
        </p:nvSpPr>
        <p:spPr>
          <a:xfrm>
            <a:off x="2606040" y="1874520"/>
            <a:ext cx="2057400" cy="1463040"/>
          </a:xfrm>
          <a:prstGeom prst="roundRect">
            <a:avLst>
              <a:gd name="adj" fmla="val 3125"/>
            </a:avLst>
          </a:prstGeom>
          <a:solidFill>
            <a:srgbClr val="EBF8FF"/>
          </a:solidFill>
          <a:ln w="12700">
            <a:solidFill>
              <a:srgbClr val="2C5282"/>
            </a:solidFill>
            <a:prstDash val="solid"/>
          </a:ln>
        </p:spPr>
      </p:sp>
      <p:sp>
        <p:nvSpPr>
          <p:cNvPr id="14" name="Text 12"/>
          <p:cNvSpPr/>
          <p:nvPr/>
        </p:nvSpPr>
        <p:spPr>
          <a:xfrm>
            <a:off x="2697480" y="1965960"/>
            <a:ext cx="1874520" cy="1280160"/>
          </a:xfrm>
          <a:prstGeom prst="rect">
            <a:avLst/>
          </a:prstGeom>
          <a:noFill/>
          <a:ln/>
        </p:spPr>
        <p:txBody>
          <a:bodyPr wrap="square" rtlCol="0" anchor="ct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 UI/UX wireframing</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Database normalization</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API specification</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Security protocols</a:t>
            </a:r>
            <a:endParaRPr lang="en-US" sz="1100" dirty="0"/>
          </a:p>
        </p:txBody>
      </p:sp>
      <p:sp>
        <p:nvSpPr>
          <p:cNvPr id="15" name="Shape 13"/>
          <p:cNvSpPr/>
          <p:nvPr/>
        </p:nvSpPr>
        <p:spPr>
          <a:xfrm>
            <a:off x="4754880" y="1005840"/>
            <a:ext cx="2057400" cy="822960"/>
          </a:xfrm>
          <a:prstGeom prst="rect">
            <a:avLst/>
          </a:prstGeom>
          <a:solidFill>
            <a:srgbClr val="2C5282"/>
          </a:solidFill>
          <a:ln/>
        </p:spPr>
      </p:sp>
      <p:sp>
        <p:nvSpPr>
          <p:cNvPr id="16" name="Text 14"/>
          <p:cNvSpPr/>
          <p:nvPr/>
        </p:nvSpPr>
        <p:spPr>
          <a:xfrm>
            <a:off x="4754880" y="1005840"/>
            <a:ext cx="2057400" cy="41148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Phase 3</a:t>
            </a:r>
            <a:endParaRPr lang="en-US" sz="1400" dirty="0"/>
          </a:p>
        </p:txBody>
      </p:sp>
      <p:sp>
        <p:nvSpPr>
          <p:cNvPr id="17" name="Text 15"/>
          <p:cNvSpPr/>
          <p:nvPr/>
        </p:nvSpPr>
        <p:spPr>
          <a:xfrm>
            <a:off x="4754880" y="1417320"/>
            <a:ext cx="2057400" cy="365760"/>
          </a:xfrm>
          <a:prstGeom prst="rect">
            <a:avLst/>
          </a:prstGeom>
          <a:noFill/>
          <a:ln/>
        </p:spPr>
        <p:txBody>
          <a:bodyPr wrap="square" rtlCol="0" anchor="ctr"/>
          <a:lstStyle/>
          <a:p>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Implementation</a:t>
            </a:r>
            <a:endParaRPr lang="en-US" sz="1100" dirty="0"/>
          </a:p>
        </p:txBody>
      </p:sp>
      <p:sp>
        <p:nvSpPr>
          <p:cNvPr id="18" name="Shape 16"/>
          <p:cNvSpPr/>
          <p:nvPr/>
        </p:nvSpPr>
        <p:spPr>
          <a:xfrm>
            <a:off x="4754880" y="1874520"/>
            <a:ext cx="2057400" cy="1463040"/>
          </a:xfrm>
          <a:prstGeom prst="roundRect">
            <a:avLst>
              <a:gd name="adj" fmla="val 3125"/>
            </a:avLst>
          </a:prstGeom>
          <a:solidFill>
            <a:srgbClr val="EBF8FF"/>
          </a:solidFill>
          <a:ln w="12700">
            <a:solidFill>
              <a:srgbClr val="2C5282"/>
            </a:solidFill>
            <a:prstDash val="solid"/>
          </a:ln>
        </p:spPr>
      </p:sp>
      <p:sp>
        <p:nvSpPr>
          <p:cNvPr id="19" name="Text 17"/>
          <p:cNvSpPr/>
          <p:nvPr/>
        </p:nvSpPr>
        <p:spPr>
          <a:xfrm>
            <a:off x="4846320" y="1965960"/>
            <a:ext cx="1874520" cy="1280160"/>
          </a:xfrm>
          <a:prstGeom prst="rect">
            <a:avLst/>
          </a:prstGeom>
          <a:noFill/>
          <a:ln/>
        </p:spPr>
        <p:txBody>
          <a:bodyPr wrap="square" rtlCol="0" anchor="ct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 Frontend development</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Backend API coding</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Database setup</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Payment integration</a:t>
            </a:r>
            <a:endParaRPr lang="en-US" sz="1100" dirty="0"/>
          </a:p>
        </p:txBody>
      </p:sp>
      <p:sp>
        <p:nvSpPr>
          <p:cNvPr id="20" name="Shape 18"/>
          <p:cNvSpPr/>
          <p:nvPr/>
        </p:nvSpPr>
        <p:spPr>
          <a:xfrm>
            <a:off x="6903720" y="1005840"/>
            <a:ext cx="2057400" cy="822960"/>
          </a:xfrm>
          <a:prstGeom prst="rect">
            <a:avLst/>
          </a:prstGeom>
          <a:solidFill>
            <a:srgbClr val="2C5282"/>
          </a:solidFill>
          <a:ln/>
        </p:spPr>
      </p:sp>
      <p:sp>
        <p:nvSpPr>
          <p:cNvPr id="21" name="Text 19"/>
          <p:cNvSpPr/>
          <p:nvPr/>
        </p:nvSpPr>
        <p:spPr>
          <a:xfrm>
            <a:off x="6903720" y="1005840"/>
            <a:ext cx="2057400" cy="411480"/>
          </a:xfrm>
          <a:prstGeom prst="rect">
            <a:avLst/>
          </a:prstGeom>
          <a:noFill/>
          <a:ln/>
        </p:spPr>
        <p:txBody>
          <a:bodyPr wrap="square"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Phase 4</a:t>
            </a:r>
            <a:endParaRPr lang="en-US" sz="1400" dirty="0"/>
          </a:p>
        </p:txBody>
      </p:sp>
      <p:sp>
        <p:nvSpPr>
          <p:cNvPr id="22" name="Text 20"/>
          <p:cNvSpPr/>
          <p:nvPr/>
        </p:nvSpPr>
        <p:spPr>
          <a:xfrm>
            <a:off x="6903720" y="1417320"/>
            <a:ext cx="2057400" cy="365760"/>
          </a:xfrm>
          <a:prstGeom prst="rect">
            <a:avLst/>
          </a:prstGeom>
          <a:noFill/>
          <a:ln/>
        </p:spPr>
        <p:txBody>
          <a:bodyPr wrap="square" rtlCol="0" anchor="ctr"/>
          <a:lstStyle/>
          <a:p>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Testing &amp; Deployment</a:t>
            </a:r>
            <a:endParaRPr lang="en-US" sz="1100" dirty="0"/>
          </a:p>
        </p:txBody>
      </p:sp>
      <p:sp>
        <p:nvSpPr>
          <p:cNvPr id="23" name="Shape 21"/>
          <p:cNvSpPr/>
          <p:nvPr/>
        </p:nvSpPr>
        <p:spPr>
          <a:xfrm>
            <a:off x="6903720" y="1874520"/>
            <a:ext cx="2057400" cy="1463040"/>
          </a:xfrm>
          <a:prstGeom prst="roundRect">
            <a:avLst>
              <a:gd name="adj" fmla="val 3125"/>
            </a:avLst>
          </a:prstGeom>
          <a:solidFill>
            <a:srgbClr val="EBF8FF"/>
          </a:solidFill>
          <a:ln w="12700">
            <a:solidFill>
              <a:srgbClr val="2C5282"/>
            </a:solidFill>
            <a:prstDash val="solid"/>
          </a:ln>
        </p:spPr>
      </p:sp>
      <p:sp>
        <p:nvSpPr>
          <p:cNvPr id="24" name="Text 22"/>
          <p:cNvSpPr/>
          <p:nvPr/>
        </p:nvSpPr>
        <p:spPr>
          <a:xfrm>
            <a:off x="6995160" y="1965960"/>
            <a:ext cx="1874520" cy="1280160"/>
          </a:xfrm>
          <a:prstGeom prst="rect">
            <a:avLst/>
          </a:prstGeom>
          <a:noFill/>
          <a:ln/>
        </p:spPr>
        <p:txBody>
          <a:bodyPr wrap="square" rtlCol="0" anchor="ct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 Unit testing</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Integration testing</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User acceptance</a:t>
            </a:r>
            <a:endParaRPr lang="en-US" sz="1100" dirty="0"/>
          </a:p>
          <a:p>
            <a:pPr indent="0" marL="0">
              <a:buNone/>
            </a:pPr>
            <a:r>
              <a:rPr lang="en-US" sz="1100" dirty="0">
                <a:solidFill>
                  <a:srgbClr val="1A202C"/>
                </a:solidFill>
                <a:latin typeface="Times New Roman" pitchFamily="34" charset="0"/>
                <a:ea typeface="Times New Roman" pitchFamily="34" charset="-122"/>
                <a:cs typeface="Times New Roman" pitchFamily="34" charset="-120"/>
              </a:rPr>
              <a:t>• Production deploy</a:t>
            </a:r>
            <a:endParaRPr lang="en-US" sz="1100" dirty="0"/>
          </a:p>
        </p:txBody>
      </p:sp>
      <p:sp>
        <p:nvSpPr>
          <p:cNvPr id="25" name="Shape 23"/>
          <p:cNvSpPr/>
          <p:nvPr/>
        </p:nvSpPr>
        <p:spPr>
          <a:xfrm>
            <a:off x="457200" y="3520440"/>
            <a:ext cx="8229600" cy="1463040"/>
          </a:xfrm>
          <a:prstGeom prst="roundRect">
            <a:avLst>
              <a:gd name="adj" fmla="val 6250"/>
            </a:avLst>
          </a:prstGeom>
          <a:solidFill>
            <a:srgbClr val="EBF8FF"/>
          </a:solidFill>
          <a:ln w="12700">
            <a:solidFill>
              <a:srgbClr val="2C5282"/>
            </a:solidFill>
            <a:prstDash val="solid"/>
          </a:ln>
        </p:spPr>
      </p:sp>
      <p:sp>
        <p:nvSpPr>
          <p:cNvPr id="26" name="Text 24"/>
          <p:cNvSpPr/>
          <p:nvPr/>
        </p:nvSpPr>
        <p:spPr>
          <a:xfrm>
            <a:off x="457200" y="3566160"/>
            <a:ext cx="8229600" cy="365760"/>
          </a:xfrm>
          <a:prstGeom prst="rect">
            <a:avLst/>
          </a:prstGeom>
          <a:noFill/>
          <a:ln/>
        </p:spPr>
        <p:txBody>
          <a:bodyPr wrap="square" rtlCol="0" anchor="ctr"/>
          <a:lstStyle/>
          <a:p>
            <a:pPr algn="ctr" indent="0" marL="0">
              <a:buNone/>
            </a:pPr>
            <a:r>
              <a:rPr lang="en-US" sz="1600" b="1" dirty="0">
                <a:solidFill>
                  <a:srgbClr val="1A365D"/>
                </a:solidFill>
                <a:latin typeface="Times New Roman" pitchFamily="34" charset="0"/>
                <a:ea typeface="Times New Roman" pitchFamily="34" charset="-122"/>
                <a:cs typeface="Times New Roman" pitchFamily="34" charset="-120"/>
              </a:rPr>
              <a:t>System Architecture Flow</a:t>
            </a:r>
            <a:endParaRPr lang="en-US" sz="1600" dirty="0"/>
          </a:p>
        </p:txBody>
      </p:sp>
      <p:sp>
        <p:nvSpPr>
          <p:cNvPr id="27" name="Shape 25"/>
          <p:cNvSpPr/>
          <p:nvPr/>
        </p:nvSpPr>
        <p:spPr>
          <a:xfrm>
            <a:off x="731520" y="4023360"/>
            <a:ext cx="1371600" cy="548640"/>
          </a:xfrm>
          <a:prstGeom prst="roundRect">
            <a:avLst>
              <a:gd name="adj" fmla="val 8333"/>
            </a:avLst>
          </a:prstGeom>
          <a:solidFill>
            <a:srgbClr val="2C5282"/>
          </a:solidFill>
          <a:ln/>
        </p:spPr>
      </p:sp>
      <p:sp>
        <p:nvSpPr>
          <p:cNvPr id="28" name="Text 26"/>
          <p:cNvSpPr/>
          <p:nvPr/>
        </p:nvSpPr>
        <p:spPr>
          <a:xfrm>
            <a:off x="731520" y="4023360"/>
            <a:ext cx="1371600" cy="548640"/>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Client Browser</a:t>
            </a:r>
            <a:endParaRPr lang="en-US" sz="1000" dirty="0"/>
          </a:p>
        </p:txBody>
      </p:sp>
      <p:sp>
        <p:nvSpPr>
          <p:cNvPr id="29" name="Text 27"/>
          <p:cNvSpPr/>
          <p:nvPr/>
        </p:nvSpPr>
        <p:spPr>
          <a:xfrm>
            <a:off x="2103120" y="4023360"/>
            <a:ext cx="274320" cy="548640"/>
          </a:xfrm>
          <a:prstGeom prst="rect">
            <a:avLst/>
          </a:prstGeom>
          <a:noFill/>
          <a:ln/>
        </p:spPr>
        <p:txBody>
          <a:bodyPr wrap="square" rtlCol="0" anchor="ctr"/>
          <a:lstStyle/>
          <a:p>
            <a:pPr algn="ctr" indent="0" marL="0">
              <a:buNone/>
            </a:pPr>
            <a:r>
              <a:rPr lang="en-US" sz="1600" dirty="0">
                <a:solidFill>
                  <a:srgbClr val="1A365D"/>
                </a:solidFill>
              </a:rPr>
              <a:t>→</a:t>
            </a:r>
            <a:endParaRPr lang="en-US" sz="1600" dirty="0"/>
          </a:p>
        </p:txBody>
      </p:sp>
      <p:sp>
        <p:nvSpPr>
          <p:cNvPr id="30" name="Shape 28"/>
          <p:cNvSpPr/>
          <p:nvPr/>
        </p:nvSpPr>
        <p:spPr>
          <a:xfrm>
            <a:off x="2377440" y="4023360"/>
            <a:ext cx="1371600" cy="548640"/>
          </a:xfrm>
          <a:prstGeom prst="roundRect">
            <a:avLst>
              <a:gd name="adj" fmla="val 8333"/>
            </a:avLst>
          </a:prstGeom>
          <a:solidFill>
            <a:srgbClr val="2C5282"/>
          </a:solidFill>
          <a:ln/>
        </p:spPr>
      </p:sp>
      <p:sp>
        <p:nvSpPr>
          <p:cNvPr id="31" name="Text 29"/>
          <p:cNvSpPr/>
          <p:nvPr/>
        </p:nvSpPr>
        <p:spPr>
          <a:xfrm>
            <a:off x="2377440" y="4023360"/>
            <a:ext cx="1371600" cy="548640"/>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Express Server</a:t>
            </a:r>
            <a:endParaRPr lang="en-US" sz="1000" dirty="0"/>
          </a:p>
        </p:txBody>
      </p:sp>
      <p:sp>
        <p:nvSpPr>
          <p:cNvPr id="32" name="Text 30"/>
          <p:cNvSpPr/>
          <p:nvPr/>
        </p:nvSpPr>
        <p:spPr>
          <a:xfrm>
            <a:off x="3749040" y="4023360"/>
            <a:ext cx="274320" cy="548640"/>
          </a:xfrm>
          <a:prstGeom prst="rect">
            <a:avLst/>
          </a:prstGeom>
          <a:noFill/>
          <a:ln/>
        </p:spPr>
        <p:txBody>
          <a:bodyPr wrap="square" rtlCol="0" anchor="ctr"/>
          <a:lstStyle/>
          <a:p>
            <a:pPr algn="ctr" indent="0" marL="0">
              <a:buNone/>
            </a:pPr>
            <a:r>
              <a:rPr lang="en-US" sz="1600" dirty="0">
                <a:solidFill>
                  <a:srgbClr val="1A365D"/>
                </a:solidFill>
              </a:rPr>
              <a:t>→</a:t>
            </a:r>
            <a:endParaRPr lang="en-US" sz="1600" dirty="0"/>
          </a:p>
        </p:txBody>
      </p:sp>
      <p:sp>
        <p:nvSpPr>
          <p:cNvPr id="33" name="Shape 31"/>
          <p:cNvSpPr/>
          <p:nvPr/>
        </p:nvSpPr>
        <p:spPr>
          <a:xfrm>
            <a:off x="4023360" y="4023360"/>
            <a:ext cx="1371600" cy="548640"/>
          </a:xfrm>
          <a:prstGeom prst="roundRect">
            <a:avLst>
              <a:gd name="adj" fmla="val 8333"/>
            </a:avLst>
          </a:prstGeom>
          <a:solidFill>
            <a:srgbClr val="E53E3E"/>
          </a:solidFill>
          <a:ln/>
        </p:spPr>
      </p:sp>
      <p:sp>
        <p:nvSpPr>
          <p:cNvPr id="34" name="Text 32"/>
          <p:cNvSpPr/>
          <p:nvPr/>
        </p:nvSpPr>
        <p:spPr>
          <a:xfrm>
            <a:off x="4023360" y="4023360"/>
            <a:ext cx="1371600" cy="548640"/>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PostgreSQL DB</a:t>
            </a:r>
            <a:endParaRPr lang="en-US" sz="1000" dirty="0"/>
          </a:p>
        </p:txBody>
      </p:sp>
      <p:sp>
        <p:nvSpPr>
          <p:cNvPr id="35" name="Text 33"/>
          <p:cNvSpPr/>
          <p:nvPr/>
        </p:nvSpPr>
        <p:spPr>
          <a:xfrm>
            <a:off x="5394960" y="4023360"/>
            <a:ext cx="274320" cy="548640"/>
          </a:xfrm>
          <a:prstGeom prst="rect">
            <a:avLst/>
          </a:prstGeom>
          <a:noFill/>
          <a:ln/>
        </p:spPr>
        <p:txBody>
          <a:bodyPr wrap="square" rtlCol="0" anchor="ctr"/>
          <a:lstStyle/>
          <a:p>
            <a:pPr algn="ctr" indent="0" marL="0">
              <a:buNone/>
            </a:pPr>
            <a:r>
              <a:rPr lang="en-US" sz="1600" dirty="0">
                <a:solidFill>
                  <a:srgbClr val="1A365D"/>
                </a:solidFill>
              </a:rPr>
              <a:t>→</a:t>
            </a:r>
            <a:endParaRPr lang="en-US" sz="1600" dirty="0"/>
          </a:p>
        </p:txBody>
      </p:sp>
      <p:sp>
        <p:nvSpPr>
          <p:cNvPr id="36" name="Shape 34"/>
          <p:cNvSpPr/>
          <p:nvPr/>
        </p:nvSpPr>
        <p:spPr>
          <a:xfrm>
            <a:off x="5669280" y="4023360"/>
            <a:ext cx="1371600" cy="548640"/>
          </a:xfrm>
          <a:prstGeom prst="roundRect">
            <a:avLst>
              <a:gd name="adj" fmla="val 8333"/>
            </a:avLst>
          </a:prstGeom>
          <a:solidFill>
            <a:srgbClr val="2C5282"/>
          </a:solidFill>
          <a:ln/>
        </p:spPr>
      </p:sp>
      <p:sp>
        <p:nvSpPr>
          <p:cNvPr id="37" name="Text 35"/>
          <p:cNvSpPr/>
          <p:nvPr/>
        </p:nvSpPr>
        <p:spPr>
          <a:xfrm>
            <a:off x="5669280" y="4023360"/>
            <a:ext cx="1371600" cy="548640"/>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PayU Gateway</a:t>
            </a:r>
            <a:endParaRPr lang="en-US" sz="1000" dirty="0"/>
          </a:p>
        </p:txBody>
      </p:sp>
      <p:sp>
        <p:nvSpPr>
          <p:cNvPr id="38" name="Text 36"/>
          <p:cNvSpPr/>
          <p:nvPr/>
        </p:nvSpPr>
        <p:spPr>
          <a:xfrm>
            <a:off x="7040880" y="4023360"/>
            <a:ext cx="274320" cy="548640"/>
          </a:xfrm>
          <a:prstGeom prst="rect">
            <a:avLst/>
          </a:prstGeom>
          <a:noFill/>
          <a:ln/>
        </p:spPr>
        <p:txBody>
          <a:bodyPr wrap="square" rtlCol="0" anchor="ctr"/>
          <a:lstStyle/>
          <a:p>
            <a:pPr algn="ctr" indent="0" marL="0">
              <a:buNone/>
            </a:pPr>
            <a:r>
              <a:rPr lang="en-US" sz="1600" dirty="0">
                <a:solidFill>
                  <a:srgbClr val="1A365D"/>
                </a:solidFill>
              </a:rPr>
              <a:t>→</a:t>
            </a:r>
            <a:endParaRPr lang="en-US" sz="1600" dirty="0"/>
          </a:p>
        </p:txBody>
      </p:sp>
      <p:sp>
        <p:nvSpPr>
          <p:cNvPr id="39" name="Shape 37"/>
          <p:cNvSpPr/>
          <p:nvPr/>
        </p:nvSpPr>
        <p:spPr>
          <a:xfrm>
            <a:off x="7315200" y="4023360"/>
            <a:ext cx="1371600" cy="548640"/>
          </a:xfrm>
          <a:prstGeom prst="roundRect">
            <a:avLst>
              <a:gd name="adj" fmla="val 8333"/>
            </a:avLst>
          </a:prstGeom>
          <a:solidFill>
            <a:srgbClr val="2C5282"/>
          </a:solidFill>
          <a:ln/>
        </p:spPr>
      </p:sp>
      <p:sp>
        <p:nvSpPr>
          <p:cNvPr id="40" name="Text 38"/>
          <p:cNvSpPr/>
          <p:nvPr/>
        </p:nvSpPr>
        <p:spPr>
          <a:xfrm>
            <a:off x="7315200" y="4023360"/>
            <a:ext cx="1371600" cy="548640"/>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Email Service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Software Requirements</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Text 3"/>
          <p:cNvSpPr/>
          <p:nvPr/>
        </p:nvSpPr>
        <p:spPr>
          <a:xfrm>
            <a:off x="457200" y="960120"/>
            <a:ext cx="4114800" cy="365760"/>
          </a:xfrm>
          <a:prstGeom prst="rect">
            <a:avLst/>
          </a:prstGeom>
          <a:noFill/>
          <a:ln/>
        </p:spPr>
        <p:txBody>
          <a:bodyPr wrap="square" rtlCol="0" anchor="ctr"/>
          <a:lstStyle/>
          <a:p>
            <a:pPr indent="0" marL="0">
              <a:buNone/>
            </a:pPr>
            <a:r>
              <a:rPr lang="en-US" sz="1800" b="1" dirty="0">
                <a:solidFill>
                  <a:srgbClr val="1A365D"/>
                </a:solidFill>
                <a:latin typeface="Times New Roman" pitchFamily="34" charset="0"/>
                <a:ea typeface="Times New Roman" pitchFamily="34" charset="-122"/>
                <a:cs typeface="Times New Roman" pitchFamily="34" charset="-120"/>
              </a:rPr>
              <a:t>System Requirements</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114800" cy="2194560"/>
        </p:xfrm>
        <a:graphic>
          <a:graphicData uri="http://schemas.openxmlformats.org/drawingml/2006/table">
            <a:tbl>
              <a:tblPr/>
              <a:tblGrid>
                <a:gridCol w="2057400"/>
                <a:gridCol w="2057400"/>
              </a:tblGrid>
              <a:tr h="313509">
                <a:tc>
                  <a:txBody>
                    <a:bodyP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Component</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solidFill>
                      <a:srgbClr val="1A365D"/>
                    </a:solidFill>
                  </a:tcPr>
                </a:tc>
                <a:tc>
                  <a:txBody>
                    <a:bodyP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Specification</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solidFill>
                      <a:srgbClr val="1A365D"/>
                    </a:solidFill>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Operating System</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Windows 10+ / Linux / macOS</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Processor</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Intel Core i3 or equivalent</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RAM</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Minimum 4GB (8GB recommended)</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Storage</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Minimum 256GB HDD/SSD</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Node.js</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Version 18.x or higher</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Database</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PostgreSQL / Supabase Cloud</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bl>
          </a:graphicData>
        </a:graphic>
      </p:graphicFrame>
      <p:sp>
        <p:nvSpPr>
          <p:cNvPr id="7" name="Text 4"/>
          <p:cNvSpPr/>
          <p:nvPr/>
        </p:nvSpPr>
        <p:spPr>
          <a:xfrm>
            <a:off x="4754880" y="960120"/>
            <a:ext cx="3931920" cy="365760"/>
          </a:xfrm>
          <a:prstGeom prst="rect">
            <a:avLst/>
          </a:prstGeom>
          <a:noFill/>
          <a:ln/>
        </p:spPr>
        <p:txBody>
          <a:bodyPr wrap="square" rtlCol="0" anchor="ctr"/>
          <a:lstStyle/>
          <a:p>
            <a:pPr indent="0" marL="0">
              <a:buNone/>
            </a:pPr>
            <a:r>
              <a:rPr lang="en-US" sz="1800" b="1" dirty="0">
                <a:solidFill>
                  <a:srgbClr val="1A365D"/>
                </a:solidFill>
                <a:latin typeface="Times New Roman" pitchFamily="34" charset="0"/>
                <a:ea typeface="Times New Roman" pitchFamily="34" charset="-122"/>
                <a:cs typeface="Times New Roman" pitchFamily="34" charset="-120"/>
              </a:rPr>
              <a:t>Development Tools</a:t>
            </a:r>
            <a:endParaRPr lang="en-US" sz="1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754880" y="1325880"/>
          <a:ext cx="3931920" cy="2194560"/>
        </p:xfrm>
        <a:graphic>
          <a:graphicData uri="http://schemas.openxmlformats.org/drawingml/2006/table">
            <a:tbl>
              <a:tblPr/>
              <a:tblGrid>
                <a:gridCol w="1965960"/>
                <a:gridCol w="1965960"/>
              </a:tblGrid>
              <a:tr h="313509">
                <a:tc>
                  <a:txBody>
                    <a:bodyP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Category</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solidFill>
                      <a:srgbClr val="2C5282"/>
                    </a:solidFill>
                  </a:tcPr>
                </a:tc>
                <a:tc>
                  <a:txBody>
                    <a:bodyP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Technology</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solidFill>
                      <a:srgbClr val="2C5282"/>
                    </a:solidFill>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Frontend</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HTML5, CSS3, JavaScript</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Backend</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Node.js, Express.js</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Database</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PostgreSQL (Supabase)</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Payments</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PayU Gateway API</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Email</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EmailJS Service</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r h="313509">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Hosting</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c>
                  <a:txBody>
                    <a:bodyPr/>
                    <a:lstStyle/>
                    <a:p>
                      <a:pPr indent="0" marL="0">
                        <a:buNone/>
                      </a:pPr>
                      <a:r>
                        <a:rPr lang="en-US" sz="1100" dirty="0">
                          <a:solidFill>
                            <a:srgbClr val="1A202C"/>
                          </a:solidFill>
                          <a:latin typeface="Times New Roman" pitchFamily="34" charset="0"/>
                          <a:ea typeface="Times New Roman" pitchFamily="34" charset="-122"/>
                          <a:cs typeface="Times New Roman" pitchFamily="34" charset="-120"/>
                        </a:rPr>
                        <a:t>Vercel / Local Server</a:t>
                      </a:r>
                      <a:endParaRPr lang="en-US" sz="1100" dirty="0">
                        <a:latin typeface="Times New Roman" charset="0"/>
                        <a:ea typeface="Times New Roman" charset="0"/>
                        <a:cs typeface="Times New Roman" charset="0"/>
                      </a:endParaRPr>
                    </a:p>
                  </a:txBody>
                  <a:tcPr marL="91440" marR="91440" marT="45720" marB="45720" anchor="ctr">
                    <a:lnL w="6350" cap="flat" cmpd="sng" algn="ctr">
                      <a:solidFill>
                        <a:srgbClr val="718096"/>
                      </a:solidFill>
                      <a:prstDash val="solid"/>
                      <a:round/>
                      <a:headEnd type="none" w="med" len="med"/>
                      <a:tailEnd type="none" w="med" len="med"/>
                    </a:lnL>
                    <a:lnR w="6350" cap="flat" cmpd="sng" algn="ctr">
                      <a:solidFill>
                        <a:srgbClr val="718096"/>
                      </a:solidFill>
                      <a:prstDash val="solid"/>
                      <a:round/>
                      <a:headEnd type="none" w="med" len="med"/>
                      <a:tailEnd type="none" w="med" len="med"/>
                    </a:lnR>
                    <a:lnT w="6350" cap="flat" cmpd="sng" algn="ctr">
                      <a:solidFill>
                        <a:srgbClr val="718096"/>
                      </a:solidFill>
                      <a:prstDash val="solid"/>
                      <a:round/>
                      <a:headEnd type="none" w="med" len="med"/>
                      <a:tailEnd type="none" w="med" len="med"/>
                    </a:lnT>
                    <a:lnB w="6350" cap="flat" cmpd="sng" algn="ctr">
                      <a:solidFill>
                        <a:srgbClr val="718096"/>
                      </a:solidFill>
                      <a:prstDash val="solid"/>
                      <a:round/>
                      <a:headEnd type="none" w="med" len="med"/>
                      <a:tailEnd type="none" w="med" len="med"/>
                    </a:lnB>
                  </a:tcPr>
                </a:tc>
              </a:tr>
            </a:tbl>
          </a:graphicData>
        </a:graphic>
      </p:graphicFrame>
      <p:sp>
        <p:nvSpPr>
          <p:cNvPr id="9" name="Shape 5"/>
          <p:cNvSpPr/>
          <p:nvPr/>
        </p:nvSpPr>
        <p:spPr>
          <a:xfrm>
            <a:off x="457200" y="3657600"/>
            <a:ext cx="8229600" cy="1280160"/>
          </a:xfrm>
          <a:prstGeom prst="roundRect">
            <a:avLst>
              <a:gd name="adj" fmla="val 7143"/>
            </a:avLst>
          </a:prstGeom>
          <a:solidFill>
            <a:srgbClr val="EBF8FF"/>
          </a:solidFill>
          <a:ln w="12700">
            <a:solidFill>
              <a:srgbClr val="2C5282"/>
            </a:solidFill>
            <a:prstDash val="solid"/>
          </a:ln>
        </p:spPr>
      </p:sp>
      <p:sp>
        <p:nvSpPr>
          <p:cNvPr id="10" name="Text 6"/>
          <p:cNvSpPr/>
          <p:nvPr/>
        </p:nvSpPr>
        <p:spPr>
          <a:xfrm>
            <a:off x="640080" y="3749040"/>
            <a:ext cx="786384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Required NPM Packages</a:t>
            </a:r>
            <a:endParaRPr lang="en-US" sz="1600" dirty="0"/>
          </a:p>
        </p:txBody>
      </p:sp>
      <p:sp>
        <p:nvSpPr>
          <p:cNvPr id="11" name="Text 7"/>
          <p:cNvSpPr/>
          <p:nvPr/>
        </p:nvSpPr>
        <p:spPr>
          <a:xfrm>
            <a:off x="640080" y="4160520"/>
            <a:ext cx="7863840" cy="640080"/>
          </a:xfrm>
          <a:prstGeom prst="rect">
            <a:avLst/>
          </a:prstGeom>
          <a:noFill/>
          <a:ln/>
        </p:spPr>
        <p:txBody>
          <a:bodyPr wrap="square" rtlCol="0" anchor="ctr"/>
          <a:lstStyle/>
          <a:p>
            <a:pPr indent="0" marL="0">
              <a:buNone/>
            </a:pPr>
            <a:r>
              <a:rPr lang="en-US" sz="1400" dirty="0">
                <a:solidFill>
                  <a:srgbClr val="1A202C"/>
                </a:solidFill>
                <a:latin typeface="Times New Roman" pitchFamily="34" charset="0"/>
                <a:ea typeface="Times New Roman" pitchFamily="34" charset="-122"/>
                <a:cs typeface="Times New Roman" pitchFamily="34" charset="-120"/>
              </a:rPr>
              <a:t>express • pg • cors • dotenv • @neondatabase/serverless • @vercel/postgres • sql.js • docx • bcryptjs • jsonwebtoken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Execution Screenshots</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097280"/>
            <a:ext cx="2560320" cy="1828800"/>
          </a:xfrm>
          <a:prstGeom prst="rect">
            <a:avLst/>
          </a:prstGeom>
          <a:solidFill>
            <a:srgbClr val="E2E8F0"/>
          </a:solidFill>
          <a:ln w="12700">
            <a:solidFill>
              <a:srgbClr val="718096"/>
            </a:solidFill>
            <a:prstDash val="solid"/>
          </a:ln>
        </p:spPr>
      </p:sp>
      <p:sp>
        <p:nvSpPr>
          <p:cNvPr id="6" name="Text 4"/>
          <p:cNvSpPr/>
          <p:nvPr/>
        </p:nvSpPr>
        <p:spPr>
          <a:xfrm>
            <a:off x="457200" y="1097280"/>
            <a:ext cx="2560320" cy="1371600"/>
          </a:xfrm>
          <a:prstGeom prst="rect">
            <a:avLst/>
          </a:prstGeom>
          <a:noFill/>
          <a:ln/>
        </p:spPr>
        <p:txBody>
          <a:bodyPr wrap="square" rtlCol="0" anchor="ctr"/>
          <a:lstStyle/>
          <a:p>
            <a:pPr algn="ctr" indent="0" marL="0">
              <a:buNone/>
            </a:pPr>
            <a:r>
              <a:rPr lang="en-US" sz="1600" dirty="0">
                <a:solidFill>
                  <a:srgbClr val="718096"/>
                </a:solidFill>
                <a:latin typeface="Times New Roman" pitchFamily="34" charset="0"/>
                <a:ea typeface="Times New Roman" pitchFamily="34" charset="-122"/>
                <a:cs typeface="Times New Roman" pitchFamily="34" charset="-120"/>
              </a:rPr>
              <a:t>[Screenshot]</a:t>
            </a:r>
            <a:endParaRPr lang="en-US" sz="1600" dirty="0"/>
          </a:p>
        </p:txBody>
      </p:sp>
      <p:sp>
        <p:nvSpPr>
          <p:cNvPr id="7" name="Shape 5"/>
          <p:cNvSpPr/>
          <p:nvPr/>
        </p:nvSpPr>
        <p:spPr>
          <a:xfrm>
            <a:off x="457200" y="2468880"/>
            <a:ext cx="2560320" cy="457200"/>
          </a:xfrm>
          <a:prstGeom prst="rect">
            <a:avLst/>
          </a:prstGeom>
          <a:solidFill>
            <a:srgbClr val="2C5282"/>
          </a:solidFill>
          <a:ln/>
        </p:spPr>
      </p:sp>
      <p:sp>
        <p:nvSpPr>
          <p:cNvPr id="8" name="Text 6"/>
          <p:cNvSpPr/>
          <p:nvPr/>
        </p:nvSpPr>
        <p:spPr>
          <a:xfrm>
            <a:off x="457200" y="2468880"/>
            <a:ext cx="2560320" cy="457200"/>
          </a:xfrm>
          <a:prstGeom prst="rect">
            <a:avLst/>
          </a:prstGeom>
          <a:noFill/>
          <a:ln/>
        </p:spPr>
        <p:txBody>
          <a:bodyPr wrap="square"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Homepage</a:t>
            </a:r>
            <a:endParaRPr lang="en-US" sz="1200" dirty="0"/>
          </a:p>
        </p:txBody>
      </p:sp>
      <p:sp>
        <p:nvSpPr>
          <p:cNvPr id="9" name="Shape 7"/>
          <p:cNvSpPr/>
          <p:nvPr/>
        </p:nvSpPr>
        <p:spPr>
          <a:xfrm>
            <a:off x="3108960" y="1097280"/>
            <a:ext cx="2560320" cy="1828800"/>
          </a:xfrm>
          <a:prstGeom prst="rect">
            <a:avLst/>
          </a:prstGeom>
          <a:solidFill>
            <a:srgbClr val="E2E8F0"/>
          </a:solidFill>
          <a:ln w="12700">
            <a:solidFill>
              <a:srgbClr val="718096"/>
            </a:solidFill>
            <a:prstDash val="solid"/>
          </a:ln>
        </p:spPr>
      </p:sp>
      <p:sp>
        <p:nvSpPr>
          <p:cNvPr id="10" name="Text 8"/>
          <p:cNvSpPr/>
          <p:nvPr/>
        </p:nvSpPr>
        <p:spPr>
          <a:xfrm>
            <a:off x="3108960" y="1097280"/>
            <a:ext cx="2560320" cy="1371600"/>
          </a:xfrm>
          <a:prstGeom prst="rect">
            <a:avLst/>
          </a:prstGeom>
          <a:noFill/>
          <a:ln/>
        </p:spPr>
        <p:txBody>
          <a:bodyPr wrap="square" rtlCol="0" anchor="ctr"/>
          <a:lstStyle/>
          <a:p>
            <a:pPr algn="ctr" indent="0" marL="0">
              <a:buNone/>
            </a:pPr>
            <a:r>
              <a:rPr lang="en-US" sz="1600" dirty="0">
                <a:solidFill>
                  <a:srgbClr val="718096"/>
                </a:solidFill>
                <a:latin typeface="Times New Roman" pitchFamily="34" charset="0"/>
                <a:ea typeface="Times New Roman" pitchFamily="34" charset="-122"/>
                <a:cs typeface="Times New Roman" pitchFamily="34" charset="-120"/>
              </a:rPr>
              <a:t>[Screenshot]</a:t>
            </a:r>
            <a:endParaRPr lang="en-US" sz="1600" dirty="0"/>
          </a:p>
        </p:txBody>
      </p:sp>
      <p:sp>
        <p:nvSpPr>
          <p:cNvPr id="11" name="Shape 9"/>
          <p:cNvSpPr/>
          <p:nvPr/>
        </p:nvSpPr>
        <p:spPr>
          <a:xfrm>
            <a:off x="3108960" y="2468880"/>
            <a:ext cx="2560320" cy="457200"/>
          </a:xfrm>
          <a:prstGeom prst="rect">
            <a:avLst/>
          </a:prstGeom>
          <a:solidFill>
            <a:srgbClr val="2C5282"/>
          </a:solidFill>
          <a:ln/>
        </p:spPr>
      </p:sp>
      <p:sp>
        <p:nvSpPr>
          <p:cNvPr id="12" name="Text 10"/>
          <p:cNvSpPr/>
          <p:nvPr/>
        </p:nvSpPr>
        <p:spPr>
          <a:xfrm>
            <a:off x="3108960" y="2468880"/>
            <a:ext cx="2560320" cy="457200"/>
          </a:xfrm>
          <a:prstGeom prst="rect">
            <a:avLst/>
          </a:prstGeom>
          <a:noFill/>
          <a:ln/>
        </p:spPr>
        <p:txBody>
          <a:bodyPr wrap="square"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Product Catalog</a:t>
            </a:r>
            <a:endParaRPr lang="en-US" sz="1200" dirty="0"/>
          </a:p>
        </p:txBody>
      </p:sp>
      <p:sp>
        <p:nvSpPr>
          <p:cNvPr id="13" name="Shape 11"/>
          <p:cNvSpPr/>
          <p:nvPr/>
        </p:nvSpPr>
        <p:spPr>
          <a:xfrm>
            <a:off x="5760720" y="1097280"/>
            <a:ext cx="2560320" cy="1828800"/>
          </a:xfrm>
          <a:prstGeom prst="rect">
            <a:avLst/>
          </a:prstGeom>
          <a:solidFill>
            <a:srgbClr val="E2E8F0"/>
          </a:solidFill>
          <a:ln w="12700">
            <a:solidFill>
              <a:srgbClr val="718096"/>
            </a:solidFill>
            <a:prstDash val="solid"/>
          </a:ln>
        </p:spPr>
      </p:sp>
      <p:sp>
        <p:nvSpPr>
          <p:cNvPr id="14" name="Text 12"/>
          <p:cNvSpPr/>
          <p:nvPr/>
        </p:nvSpPr>
        <p:spPr>
          <a:xfrm>
            <a:off x="5760720" y="1097280"/>
            <a:ext cx="2560320" cy="1371600"/>
          </a:xfrm>
          <a:prstGeom prst="rect">
            <a:avLst/>
          </a:prstGeom>
          <a:noFill/>
          <a:ln/>
        </p:spPr>
        <p:txBody>
          <a:bodyPr wrap="square" rtlCol="0" anchor="ctr"/>
          <a:lstStyle/>
          <a:p>
            <a:pPr algn="ctr" indent="0" marL="0">
              <a:buNone/>
            </a:pPr>
            <a:r>
              <a:rPr lang="en-US" sz="1600" dirty="0">
                <a:solidFill>
                  <a:srgbClr val="718096"/>
                </a:solidFill>
                <a:latin typeface="Times New Roman" pitchFamily="34" charset="0"/>
                <a:ea typeface="Times New Roman" pitchFamily="34" charset="-122"/>
                <a:cs typeface="Times New Roman" pitchFamily="34" charset="-120"/>
              </a:rPr>
              <a:t>[Screenshot]</a:t>
            </a:r>
            <a:endParaRPr lang="en-US" sz="1600" dirty="0"/>
          </a:p>
        </p:txBody>
      </p:sp>
      <p:sp>
        <p:nvSpPr>
          <p:cNvPr id="15" name="Shape 13"/>
          <p:cNvSpPr/>
          <p:nvPr/>
        </p:nvSpPr>
        <p:spPr>
          <a:xfrm>
            <a:off x="5760720" y="2468880"/>
            <a:ext cx="2560320" cy="457200"/>
          </a:xfrm>
          <a:prstGeom prst="rect">
            <a:avLst/>
          </a:prstGeom>
          <a:solidFill>
            <a:srgbClr val="2C5282"/>
          </a:solidFill>
          <a:ln/>
        </p:spPr>
      </p:sp>
      <p:sp>
        <p:nvSpPr>
          <p:cNvPr id="16" name="Text 14"/>
          <p:cNvSpPr/>
          <p:nvPr/>
        </p:nvSpPr>
        <p:spPr>
          <a:xfrm>
            <a:off x="5760720" y="2468880"/>
            <a:ext cx="2560320" cy="457200"/>
          </a:xfrm>
          <a:prstGeom prst="rect">
            <a:avLst/>
          </a:prstGeom>
          <a:noFill/>
          <a:ln/>
        </p:spPr>
        <p:txBody>
          <a:bodyPr wrap="square"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Shopping Cart</a:t>
            </a:r>
            <a:endParaRPr lang="en-US" sz="1200" dirty="0"/>
          </a:p>
        </p:txBody>
      </p:sp>
      <p:sp>
        <p:nvSpPr>
          <p:cNvPr id="17" name="Shape 15"/>
          <p:cNvSpPr/>
          <p:nvPr/>
        </p:nvSpPr>
        <p:spPr>
          <a:xfrm>
            <a:off x="457200" y="3108960"/>
            <a:ext cx="2560320" cy="1828800"/>
          </a:xfrm>
          <a:prstGeom prst="rect">
            <a:avLst/>
          </a:prstGeom>
          <a:solidFill>
            <a:srgbClr val="E2E8F0"/>
          </a:solidFill>
          <a:ln w="12700">
            <a:solidFill>
              <a:srgbClr val="718096"/>
            </a:solidFill>
            <a:prstDash val="solid"/>
          </a:ln>
        </p:spPr>
      </p:sp>
      <p:sp>
        <p:nvSpPr>
          <p:cNvPr id="18" name="Text 16"/>
          <p:cNvSpPr/>
          <p:nvPr/>
        </p:nvSpPr>
        <p:spPr>
          <a:xfrm>
            <a:off x="457200" y="3108960"/>
            <a:ext cx="2560320" cy="1371600"/>
          </a:xfrm>
          <a:prstGeom prst="rect">
            <a:avLst/>
          </a:prstGeom>
          <a:noFill/>
          <a:ln/>
        </p:spPr>
        <p:txBody>
          <a:bodyPr wrap="square" rtlCol="0" anchor="ctr"/>
          <a:lstStyle/>
          <a:p>
            <a:pPr algn="ctr" indent="0" marL="0">
              <a:buNone/>
            </a:pPr>
            <a:r>
              <a:rPr lang="en-US" sz="1600" dirty="0">
                <a:solidFill>
                  <a:srgbClr val="718096"/>
                </a:solidFill>
                <a:latin typeface="Times New Roman" pitchFamily="34" charset="0"/>
                <a:ea typeface="Times New Roman" pitchFamily="34" charset="-122"/>
                <a:cs typeface="Times New Roman" pitchFamily="34" charset="-120"/>
              </a:rPr>
              <a:t>[Screenshot]</a:t>
            </a:r>
            <a:endParaRPr lang="en-US" sz="1600" dirty="0"/>
          </a:p>
        </p:txBody>
      </p:sp>
      <p:sp>
        <p:nvSpPr>
          <p:cNvPr id="19" name="Shape 17"/>
          <p:cNvSpPr/>
          <p:nvPr/>
        </p:nvSpPr>
        <p:spPr>
          <a:xfrm>
            <a:off x="457200" y="4480560"/>
            <a:ext cx="2560320" cy="457200"/>
          </a:xfrm>
          <a:prstGeom prst="rect">
            <a:avLst/>
          </a:prstGeom>
          <a:solidFill>
            <a:srgbClr val="2C5282"/>
          </a:solidFill>
          <a:ln/>
        </p:spPr>
      </p:sp>
      <p:sp>
        <p:nvSpPr>
          <p:cNvPr id="20" name="Text 18"/>
          <p:cNvSpPr/>
          <p:nvPr/>
        </p:nvSpPr>
        <p:spPr>
          <a:xfrm>
            <a:off x="457200" y="4480560"/>
            <a:ext cx="2560320" cy="457200"/>
          </a:xfrm>
          <a:prstGeom prst="rect">
            <a:avLst/>
          </a:prstGeom>
          <a:noFill/>
          <a:ln/>
        </p:spPr>
        <p:txBody>
          <a:bodyPr wrap="square"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Admin Dashboard</a:t>
            </a:r>
            <a:endParaRPr lang="en-US" sz="1200" dirty="0"/>
          </a:p>
        </p:txBody>
      </p:sp>
      <p:sp>
        <p:nvSpPr>
          <p:cNvPr id="21" name="Shape 19"/>
          <p:cNvSpPr/>
          <p:nvPr/>
        </p:nvSpPr>
        <p:spPr>
          <a:xfrm>
            <a:off x="3108960" y="3108960"/>
            <a:ext cx="2560320" cy="1828800"/>
          </a:xfrm>
          <a:prstGeom prst="rect">
            <a:avLst/>
          </a:prstGeom>
          <a:solidFill>
            <a:srgbClr val="E2E8F0"/>
          </a:solidFill>
          <a:ln w="12700">
            <a:solidFill>
              <a:srgbClr val="718096"/>
            </a:solidFill>
            <a:prstDash val="solid"/>
          </a:ln>
        </p:spPr>
      </p:sp>
      <p:sp>
        <p:nvSpPr>
          <p:cNvPr id="22" name="Text 20"/>
          <p:cNvSpPr/>
          <p:nvPr/>
        </p:nvSpPr>
        <p:spPr>
          <a:xfrm>
            <a:off x="3108960" y="3108960"/>
            <a:ext cx="2560320" cy="1371600"/>
          </a:xfrm>
          <a:prstGeom prst="rect">
            <a:avLst/>
          </a:prstGeom>
          <a:noFill/>
          <a:ln/>
        </p:spPr>
        <p:txBody>
          <a:bodyPr wrap="square" rtlCol="0" anchor="ctr"/>
          <a:lstStyle/>
          <a:p>
            <a:pPr algn="ctr" indent="0" marL="0">
              <a:buNone/>
            </a:pPr>
            <a:r>
              <a:rPr lang="en-US" sz="1600" dirty="0">
                <a:solidFill>
                  <a:srgbClr val="718096"/>
                </a:solidFill>
                <a:latin typeface="Times New Roman" pitchFamily="34" charset="0"/>
                <a:ea typeface="Times New Roman" pitchFamily="34" charset="-122"/>
                <a:cs typeface="Times New Roman" pitchFamily="34" charset="-120"/>
              </a:rPr>
              <a:t>[Screenshot]</a:t>
            </a:r>
            <a:endParaRPr lang="en-US" sz="1600" dirty="0"/>
          </a:p>
        </p:txBody>
      </p:sp>
      <p:sp>
        <p:nvSpPr>
          <p:cNvPr id="23" name="Shape 21"/>
          <p:cNvSpPr/>
          <p:nvPr/>
        </p:nvSpPr>
        <p:spPr>
          <a:xfrm>
            <a:off x="3108960" y="4480560"/>
            <a:ext cx="2560320" cy="457200"/>
          </a:xfrm>
          <a:prstGeom prst="rect">
            <a:avLst/>
          </a:prstGeom>
          <a:solidFill>
            <a:srgbClr val="2C5282"/>
          </a:solidFill>
          <a:ln/>
        </p:spPr>
      </p:sp>
      <p:sp>
        <p:nvSpPr>
          <p:cNvPr id="24" name="Text 22"/>
          <p:cNvSpPr/>
          <p:nvPr/>
        </p:nvSpPr>
        <p:spPr>
          <a:xfrm>
            <a:off x="3108960" y="4480560"/>
            <a:ext cx="2560320" cy="457200"/>
          </a:xfrm>
          <a:prstGeom prst="rect">
            <a:avLst/>
          </a:prstGeom>
          <a:noFill/>
          <a:ln/>
        </p:spPr>
        <p:txBody>
          <a:bodyPr wrap="square"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Checkout Process</a:t>
            </a:r>
            <a:endParaRPr lang="en-US" sz="1200" dirty="0"/>
          </a:p>
        </p:txBody>
      </p:sp>
      <p:sp>
        <p:nvSpPr>
          <p:cNvPr id="25" name="Shape 23"/>
          <p:cNvSpPr/>
          <p:nvPr/>
        </p:nvSpPr>
        <p:spPr>
          <a:xfrm>
            <a:off x="5760720" y="3108960"/>
            <a:ext cx="2560320" cy="1828800"/>
          </a:xfrm>
          <a:prstGeom prst="rect">
            <a:avLst/>
          </a:prstGeom>
          <a:solidFill>
            <a:srgbClr val="E2E8F0"/>
          </a:solidFill>
          <a:ln w="12700">
            <a:solidFill>
              <a:srgbClr val="718096"/>
            </a:solidFill>
            <a:prstDash val="solid"/>
          </a:ln>
        </p:spPr>
      </p:sp>
      <p:sp>
        <p:nvSpPr>
          <p:cNvPr id="26" name="Text 24"/>
          <p:cNvSpPr/>
          <p:nvPr/>
        </p:nvSpPr>
        <p:spPr>
          <a:xfrm>
            <a:off x="5760720" y="3108960"/>
            <a:ext cx="2560320" cy="1371600"/>
          </a:xfrm>
          <a:prstGeom prst="rect">
            <a:avLst/>
          </a:prstGeom>
          <a:noFill/>
          <a:ln/>
        </p:spPr>
        <p:txBody>
          <a:bodyPr wrap="square" rtlCol="0" anchor="ctr"/>
          <a:lstStyle/>
          <a:p>
            <a:pPr algn="ctr" indent="0" marL="0">
              <a:buNone/>
            </a:pPr>
            <a:r>
              <a:rPr lang="en-US" sz="1600" dirty="0">
                <a:solidFill>
                  <a:srgbClr val="718096"/>
                </a:solidFill>
                <a:latin typeface="Times New Roman" pitchFamily="34" charset="0"/>
                <a:ea typeface="Times New Roman" pitchFamily="34" charset="-122"/>
                <a:cs typeface="Times New Roman" pitchFamily="34" charset="-120"/>
              </a:rPr>
              <a:t>[Screenshot]</a:t>
            </a:r>
            <a:endParaRPr lang="en-US" sz="1600" dirty="0"/>
          </a:p>
        </p:txBody>
      </p:sp>
      <p:sp>
        <p:nvSpPr>
          <p:cNvPr id="27" name="Shape 25"/>
          <p:cNvSpPr/>
          <p:nvPr/>
        </p:nvSpPr>
        <p:spPr>
          <a:xfrm>
            <a:off x="5760720" y="4480560"/>
            <a:ext cx="2560320" cy="457200"/>
          </a:xfrm>
          <a:prstGeom prst="rect">
            <a:avLst/>
          </a:prstGeom>
          <a:solidFill>
            <a:srgbClr val="2C5282"/>
          </a:solidFill>
          <a:ln/>
        </p:spPr>
      </p:sp>
      <p:sp>
        <p:nvSpPr>
          <p:cNvPr id="28" name="Text 26"/>
          <p:cNvSpPr/>
          <p:nvPr/>
        </p:nvSpPr>
        <p:spPr>
          <a:xfrm>
            <a:off x="5760720" y="4480560"/>
            <a:ext cx="2560320" cy="457200"/>
          </a:xfrm>
          <a:prstGeom prst="rect">
            <a:avLst/>
          </a:prstGeom>
          <a:noFill/>
          <a:ln/>
        </p:spPr>
        <p:txBody>
          <a:bodyPr wrap="square"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Order Confirmation</a:t>
            </a:r>
            <a:endParaRPr lang="en-US" sz="1200" dirty="0"/>
          </a:p>
        </p:txBody>
      </p:sp>
      <p:sp>
        <p:nvSpPr>
          <p:cNvPr id="29" name="Text 27"/>
          <p:cNvSpPr/>
          <p:nvPr/>
        </p:nvSpPr>
        <p:spPr>
          <a:xfrm>
            <a:off x="457200" y="4892040"/>
            <a:ext cx="8229600" cy="274320"/>
          </a:xfrm>
          <a:prstGeom prst="rect">
            <a:avLst/>
          </a:prstGeom>
          <a:noFill/>
          <a:ln/>
        </p:spPr>
        <p:txBody>
          <a:bodyPr wrap="square" rtlCol="0" anchor="ctr"/>
          <a:lstStyle/>
          <a:p>
            <a:pPr algn="ctr" indent="0" marL="0">
              <a:buNone/>
            </a:pPr>
            <a:r>
              <a:rPr lang="en-US" sz="1000" i="1" dirty="0">
                <a:solidFill>
                  <a:srgbClr val="718096"/>
                </a:solidFill>
                <a:latin typeface="Times New Roman" pitchFamily="34" charset="0"/>
                <a:ea typeface="Times New Roman" pitchFamily="34" charset="-122"/>
                <a:cs typeface="Times New Roman" pitchFamily="34" charset="-120"/>
              </a:rPr>
              <a:t>Note: Replace placeholders with actual screenshots from application testing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Code in Separate File</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005840"/>
            <a:ext cx="8229600" cy="1828800"/>
          </a:xfrm>
          <a:prstGeom prst="roundRect">
            <a:avLst>
              <a:gd name="adj" fmla="val 5000"/>
            </a:avLst>
          </a:prstGeom>
          <a:solidFill>
            <a:srgbClr val="EBF8FF"/>
          </a:solidFill>
          <a:ln w="12700">
            <a:solidFill>
              <a:srgbClr val="2C5282"/>
            </a:solidFill>
            <a:prstDash val="solid"/>
          </a:ln>
        </p:spPr>
      </p:sp>
      <p:sp>
        <p:nvSpPr>
          <p:cNvPr id="6" name="Text 4"/>
          <p:cNvSpPr/>
          <p:nvPr/>
        </p:nvSpPr>
        <p:spPr>
          <a:xfrm>
            <a:off x="640080" y="1097280"/>
            <a:ext cx="7863840" cy="365760"/>
          </a:xfrm>
          <a:prstGeom prst="rect">
            <a:avLst/>
          </a:prstGeom>
          <a:noFill/>
          <a:ln/>
        </p:spPr>
        <p:txBody>
          <a:bodyPr wrap="square" rtlCol="0" anchor="ctr"/>
          <a:lstStyle/>
          <a:p>
            <a:pPr indent="0" marL="0">
              <a:buNone/>
            </a:pPr>
            <a:r>
              <a:rPr lang="en-US" sz="1800" b="1" dirty="0">
                <a:solidFill>
                  <a:srgbClr val="1A365D"/>
                </a:solidFill>
                <a:latin typeface="Times New Roman" pitchFamily="34" charset="0"/>
                <a:ea typeface="Times New Roman" pitchFamily="34" charset="-122"/>
                <a:cs typeface="Times New Roman" pitchFamily="34" charset="-120"/>
              </a:rPr>
              <a:t>Project Source Files</a:t>
            </a:r>
            <a:endParaRPr lang="en-US" sz="1800" dirty="0"/>
          </a:p>
        </p:txBody>
      </p:sp>
      <p:sp>
        <p:nvSpPr>
          <p:cNvPr id="7" name="Text 5"/>
          <p:cNvSpPr/>
          <p:nvPr/>
        </p:nvSpPr>
        <p:spPr>
          <a:xfrm>
            <a:off x="640080" y="1508760"/>
            <a:ext cx="7863840" cy="1188720"/>
          </a:xfrm>
          <a:prstGeom prst="rect">
            <a:avLst/>
          </a:prstGeom>
          <a:noFill/>
          <a:ln/>
        </p:spPr>
        <p:txBody>
          <a:bodyPr wrap="square" rtlCol="0" anchor="ctr"/>
          <a:lstStyle/>
          <a:p>
            <a:pPr indent="0" marL="0">
              <a:buNone/>
            </a:pPr>
            <a:r>
              <a:rPr lang="en-US" sz="1300" dirty="0">
                <a:solidFill>
                  <a:srgbClr val="1A202C"/>
                </a:solidFill>
                <a:latin typeface="Times New Roman" pitchFamily="34" charset="0"/>
                <a:ea typeface="Times New Roman" pitchFamily="34" charset="-122"/>
                <a:cs typeface="Times New Roman" pitchFamily="34" charset="-120"/>
              </a:rPr>
              <a:t>├── index.html          → Main storefront page</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login.html          → User authentication</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admin.html          → Admin dashboard interface</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checkout.html       → Payment checkout page</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api/                → Backend API endpoints (users.js, login.js, products.js, orders.js)</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script.js           → Main frontend JavaScript</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server-pg.js        → Main Express server with PG integration</a:t>
            </a:r>
            <a:endParaRPr lang="en-US" sz="1300" dirty="0"/>
          </a:p>
        </p:txBody>
      </p:sp>
      <p:sp>
        <p:nvSpPr>
          <p:cNvPr id="8" name="Shape 6"/>
          <p:cNvSpPr/>
          <p:nvPr/>
        </p:nvSpPr>
        <p:spPr>
          <a:xfrm>
            <a:off x="457200" y="2971800"/>
            <a:ext cx="8229600" cy="1188720"/>
          </a:xfrm>
          <a:prstGeom prst="roundRect">
            <a:avLst>
              <a:gd name="adj" fmla="val 7692"/>
            </a:avLst>
          </a:prstGeom>
          <a:solidFill>
            <a:srgbClr val="EBF8FF"/>
          </a:solidFill>
          <a:ln w="12700">
            <a:solidFill>
              <a:srgbClr val="2C5282"/>
            </a:solidFill>
            <a:prstDash val="solid"/>
          </a:ln>
        </p:spPr>
      </p:sp>
      <p:sp>
        <p:nvSpPr>
          <p:cNvPr id="9" name="Text 7"/>
          <p:cNvSpPr/>
          <p:nvPr/>
        </p:nvSpPr>
        <p:spPr>
          <a:xfrm>
            <a:off x="640080" y="3063240"/>
            <a:ext cx="7863840" cy="365760"/>
          </a:xfrm>
          <a:prstGeom prst="rect">
            <a:avLst/>
          </a:prstGeom>
          <a:noFill/>
          <a:ln/>
        </p:spPr>
        <p:txBody>
          <a:bodyPr wrap="square" rtlCol="0" anchor="ctr"/>
          <a:lstStyle/>
          <a:p>
            <a:pPr indent="0" marL="0">
              <a:buNone/>
            </a:pPr>
            <a:r>
              <a:rPr lang="en-US" sz="1800" b="1" dirty="0">
                <a:solidFill>
                  <a:srgbClr val="1A365D"/>
                </a:solidFill>
                <a:latin typeface="Times New Roman" pitchFamily="34" charset="0"/>
                <a:ea typeface="Times New Roman" pitchFamily="34" charset="-122"/>
                <a:cs typeface="Times New Roman" pitchFamily="34" charset="-120"/>
              </a:rPr>
              <a:t>Database Files</a:t>
            </a:r>
            <a:endParaRPr lang="en-US" sz="1800" dirty="0"/>
          </a:p>
        </p:txBody>
      </p:sp>
      <p:sp>
        <p:nvSpPr>
          <p:cNvPr id="10" name="Text 8"/>
          <p:cNvSpPr/>
          <p:nvPr/>
        </p:nvSpPr>
        <p:spPr>
          <a:xfrm>
            <a:off x="640080" y="3474720"/>
            <a:ext cx="7863840" cy="640080"/>
          </a:xfrm>
          <a:prstGeom prst="rect">
            <a:avLst/>
          </a:prstGeom>
          <a:noFill/>
          <a:ln/>
        </p:spPr>
        <p:txBody>
          <a:bodyPr wrap="square" rtlCol="0" anchor="ctr"/>
          <a:lstStyle/>
          <a:p>
            <a:pPr indent="0" marL="0">
              <a:buNone/>
            </a:pPr>
            <a:r>
              <a:rPr lang="en-US" sz="1300" dirty="0">
                <a:solidFill>
                  <a:srgbClr val="1A202C"/>
                </a:solidFill>
                <a:latin typeface="Times New Roman" pitchFamily="34" charset="0"/>
                <a:ea typeface="Times New Roman" pitchFamily="34" charset="-122"/>
                <a:cs typeface="Times New Roman" pitchFamily="34" charset="-120"/>
              </a:rPr>
              <a:t>├── init-db.js          → Database initialization script (78 lines)</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database-setup.sql  → PostgreSQL schema &amp; seed data (148 lines)</a:t>
            </a:r>
            <a:endParaRPr lang="en-US" sz="1300" dirty="0"/>
          </a:p>
          <a:p>
            <a:pPr indent="0" marL="0">
              <a:buNone/>
            </a:pPr>
            <a:r>
              <a:rPr lang="en-US" sz="1300" dirty="0">
                <a:solidFill>
                  <a:srgbClr val="1A202C"/>
                </a:solidFill>
                <a:latin typeface="Times New Roman" pitchFamily="34" charset="0"/>
                <a:ea typeface="Times New Roman" pitchFamily="34" charset="-122"/>
                <a:cs typeface="Times New Roman" pitchFamily="34" charset="-120"/>
              </a:rPr>
              <a:t>└── database-pgadmin.sql → pgAdmin compatibility version</a:t>
            </a:r>
            <a:endParaRPr lang="en-US" sz="1300" dirty="0"/>
          </a:p>
        </p:txBody>
      </p:sp>
      <p:sp>
        <p:nvSpPr>
          <p:cNvPr id="11" name="Shape 9"/>
          <p:cNvSpPr/>
          <p:nvPr/>
        </p:nvSpPr>
        <p:spPr>
          <a:xfrm>
            <a:off x="457200" y="4297680"/>
            <a:ext cx="8229600" cy="731520"/>
          </a:xfrm>
          <a:prstGeom prst="roundRect">
            <a:avLst/>
          </a:prstGeom>
          <a:solidFill>
            <a:srgbClr val="2C5282"/>
          </a:solidFill>
          <a:ln/>
        </p:spPr>
      </p:sp>
      <p:sp>
        <p:nvSpPr>
          <p:cNvPr id="12" name="Text 10"/>
          <p:cNvSpPr/>
          <p:nvPr/>
        </p:nvSpPr>
        <p:spPr>
          <a:xfrm>
            <a:off x="640080" y="4389120"/>
            <a:ext cx="7863840" cy="548640"/>
          </a:xfrm>
          <a:prstGeom prst="rect">
            <a:avLst/>
          </a:prstGeom>
          <a:noFill/>
          <a:ln/>
        </p:spPr>
        <p:txBody>
          <a:bodyPr wrap="square" rtlCol="0" anchor="ctr"/>
          <a:lstStyle/>
          <a:p>
            <a:pPr algn="ctr" indent="0" marL="0">
              <a:buNone/>
            </a:pPr>
            <a:r>
              <a:rPr lang="en-US" sz="1400" dirty="0">
                <a:solidFill>
                  <a:srgbClr val="FFFFFF"/>
                </a:solidFill>
                <a:latin typeface="Times New Roman" pitchFamily="34" charset="0"/>
                <a:ea typeface="Times New Roman" pitchFamily="34" charset="-122"/>
                <a:cs typeface="Times New Roman" pitchFamily="34" charset="-120"/>
              </a:rPr>
              <a:t>Key Files: server-pg.js, api/users.js, api/login.js, api/orders.js, api/products.js, init-db.js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Creativity and Innovation</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005840"/>
            <a:ext cx="4114800" cy="1234440"/>
          </a:xfrm>
          <a:prstGeom prst="roundRect">
            <a:avLst>
              <a:gd name="adj" fmla="val 7407"/>
            </a:avLst>
          </a:prstGeom>
          <a:solidFill>
            <a:srgbClr val="EBF8FF"/>
          </a:solidFill>
          <a:ln w="12700">
            <a:solidFill>
              <a:srgbClr val="2C5282"/>
            </a:solidFill>
            <a:prstDash val="solid"/>
          </a:ln>
        </p:spPr>
      </p:sp>
      <p:sp>
        <p:nvSpPr>
          <p:cNvPr id="6" name="Text 4"/>
          <p:cNvSpPr/>
          <p:nvPr/>
        </p:nvSpPr>
        <p:spPr>
          <a:xfrm>
            <a:off x="548640" y="1188720"/>
            <a:ext cx="5486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1188720" y="1143000"/>
            <a:ext cx="32004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Premium Design Aesthetic</a:t>
            </a:r>
            <a:endParaRPr lang="en-US" sz="1600" dirty="0"/>
          </a:p>
        </p:txBody>
      </p:sp>
      <p:sp>
        <p:nvSpPr>
          <p:cNvPr id="8" name="Text 6"/>
          <p:cNvSpPr/>
          <p:nvPr/>
        </p:nvSpPr>
        <p:spPr>
          <a:xfrm>
            <a:off x="1188720" y="1508760"/>
            <a:ext cx="3200400" cy="64008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Luxury-themed UI with elegant color schemes</a:t>
            </a:r>
            <a:endParaRPr lang="en-US" sz="1200" dirty="0"/>
          </a:p>
        </p:txBody>
      </p:sp>
      <p:sp>
        <p:nvSpPr>
          <p:cNvPr id="9" name="Shape 7"/>
          <p:cNvSpPr/>
          <p:nvPr/>
        </p:nvSpPr>
        <p:spPr>
          <a:xfrm>
            <a:off x="4754880" y="1005840"/>
            <a:ext cx="4114800" cy="1234440"/>
          </a:xfrm>
          <a:prstGeom prst="roundRect">
            <a:avLst>
              <a:gd name="adj" fmla="val 7407"/>
            </a:avLst>
          </a:prstGeom>
          <a:solidFill>
            <a:srgbClr val="EBF8FF"/>
          </a:solidFill>
          <a:ln w="12700">
            <a:solidFill>
              <a:srgbClr val="2C5282"/>
            </a:solidFill>
            <a:prstDash val="solid"/>
          </a:ln>
        </p:spPr>
      </p:sp>
      <p:sp>
        <p:nvSpPr>
          <p:cNvPr id="10" name="Text 8"/>
          <p:cNvSpPr/>
          <p:nvPr/>
        </p:nvSpPr>
        <p:spPr>
          <a:xfrm>
            <a:off x="4846320" y="1188720"/>
            <a:ext cx="5486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1" name="Text 9"/>
          <p:cNvSpPr/>
          <p:nvPr/>
        </p:nvSpPr>
        <p:spPr>
          <a:xfrm>
            <a:off x="5486400" y="1143000"/>
            <a:ext cx="32004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PWA Implementation</a:t>
            </a:r>
            <a:endParaRPr lang="en-US" sz="1600" dirty="0"/>
          </a:p>
        </p:txBody>
      </p:sp>
      <p:sp>
        <p:nvSpPr>
          <p:cNvPr id="12" name="Text 10"/>
          <p:cNvSpPr/>
          <p:nvPr/>
        </p:nvSpPr>
        <p:spPr>
          <a:xfrm>
            <a:off x="5486400" y="1508760"/>
            <a:ext cx="3200400" cy="64008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Offline browsing, push notifications, app install</a:t>
            </a:r>
            <a:endParaRPr lang="en-US" sz="1200" dirty="0"/>
          </a:p>
        </p:txBody>
      </p:sp>
      <p:sp>
        <p:nvSpPr>
          <p:cNvPr id="13" name="Shape 11"/>
          <p:cNvSpPr/>
          <p:nvPr/>
        </p:nvSpPr>
        <p:spPr>
          <a:xfrm>
            <a:off x="457200" y="2331720"/>
            <a:ext cx="4114800" cy="1234440"/>
          </a:xfrm>
          <a:prstGeom prst="roundRect">
            <a:avLst>
              <a:gd name="adj" fmla="val 7407"/>
            </a:avLst>
          </a:prstGeom>
          <a:solidFill>
            <a:srgbClr val="EBF8FF"/>
          </a:solidFill>
          <a:ln w="12700">
            <a:solidFill>
              <a:srgbClr val="2C5282"/>
            </a:solidFill>
            <a:prstDash val="solid"/>
          </a:ln>
        </p:spPr>
      </p:sp>
      <p:sp>
        <p:nvSpPr>
          <p:cNvPr id="14" name="Text 12"/>
          <p:cNvSpPr/>
          <p:nvPr/>
        </p:nvSpPr>
        <p:spPr>
          <a:xfrm>
            <a:off x="548640" y="2514600"/>
            <a:ext cx="5486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5" name="Text 13"/>
          <p:cNvSpPr/>
          <p:nvPr/>
        </p:nvSpPr>
        <p:spPr>
          <a:xfrm>
            <a:off x="1188720" y="2468880"/>
            <a:ext cx="32004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Real-time Cart Sync</a:t>
            </a:r>
            <a:endParaRPr lang="en-US" sz="1600" dirty="0"/>
          </a:p>
        </p:txBody>
      </p:sp>
      <p:sp>
        <p:nvSpPr>
          <p:cNvPr id="16" name="Text 14"/>
          <p:cNvSpPr/>
          <p:nvPr/>
        </p:nvSpPr>
        <p:spPr>
          <a:xfrm>
            <a:off x="1188720" y="2834640"/>
            <a:ext cx="3200400" cy="64008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Persistent cart state across sessions &amp; tabs</a:t>
            </a:r>
            <a:endParaRPr lang="en-US" sz="1200" dirty="0"/>
          </a:p>
        </p:txBody>
      </p:sp>
      <p:sp>
        <p:nvSpPr>
          <p:cNvPr id="17" name="Shape 15"/>
          <p:cNvSpPr/>
          <p:nvPr/>
        </p:nvSpPr>
        <p:spPr>
          <a:xfrm>
            <a:off x="4754880" y="2331720"/>
            <a:ext cx="4114800" cy="1234440"/>
          </a:xfrm>
          <a:prstGeom prst="roundRect">
            <a:avLst>
              <a:gd name="adj" fmla="val 7407"/>
            </a:avLst>
          </a:prstGeom>
          <a:solidFill>
            <a:srgbClr val="EBF8FF"/>
          </a:solidFill>
          <a:ln w="12700">
            <a:solidFill>
              <a:srgbClr val="2C5282"/>
            </a:solidFill>
            <a:prstDash val="solid"/>
          </a:ln>
        </p:spPr>
      </p:sp>
      <p:sp>
        <p:nvSpPr>
          <p:cNvPr id="18" name="Text 16"/>
          <p:cNvSpPr/>
          <p:nvPr/>
        </p:nvSpPr>
        <p:spPr>
          <a:xfrm>
            <a:off x="4846320" y="2514600"/>
            <a:ext cx="5486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9" name="Text 17"/>
          <p:cNvSpPr/>
          <p:nvPr/>
        </p:nvSpPr>
        <p:spPr>
          <a:xfrm>
            <a:off x="5486400" y="2468880"/>
            <a:ext cx="32004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Automated Email System</a:t>
            </a:r>
            <a:endParaRPr lang="en-US" sz="1600" dirty="0"/>
          </a:p>
        </p:txBody>
      </p:sp>
      <p:sp>
        <p:nvSpPr>
          <p:cNvPr id="20" name="Text 18"/>
          <p:cNvSpPr/>
          <p:nvPr/>
        </p:nvSpPr>
        <p:spPr>
          <a:xfrm>
            <a:off x="5486400" y="2834640"/>
            <a:ext cx="3200400" cy="64008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Real email notifications via EmailJS</a:t>
            </a:r>
            <a:endParaRPr lang="en-US" sz="1200" dirty="0"/>
          </a:p>
        </p:txBody>
      </p:sp>
      <p:sp>
        <p:nvSpPr>
          <p:cNvPr id="21" name="Shape 19"/>
          <p:cNvSpPr/>
          <p:nvPr/>
        </p:nvSpPr>
        <p:spPr>
          <a:xfrm>
            <a:off x="457200" y="3657600"/>
            <a:ext cx="4114800" cy="1234440"/>
          </a:xfrm>
          <a:prstGeom prst="roundRect">
            <a:avLst>
              <a:gd name="adj" fmla="val 7407"/>
            </a:avLst>
          </a:prstGeom>
          <a:solidFill>
            <a:srgbClr val="EBF8FF"/>
          </a:solidFill>
          <a:ln w="12700">
            <a:solidFill>
              <a:srgbClr val="2C5282"/>
            </a:solidFill>
            <a:prstDash val="solid"/>
          </a:ln>
        </p:spPr>
      </p:sp>
      <p:sp>
        <p:nvSpPr>
          <p:cNvPr id="22" name="Text 20"/>
          <p:cNvSpPr/>
          <p:nvPr/>
        </p:nvSpPr>
        <p:spPr>
          <a:xfrm>
            <a:off x="548640" y="3840480"/>
            <a:ext cx="5486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3" name="Text 21"/>
          <p:cNvSpPr/>
          <p:nvPr/>
        </p:nvSpPr>
        <p:spPr>
          <a:xfrm>
            <a:off x="1188720" y="3794760"/>
            <a:ext cx="32004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Admin Analytics</a:t>
            </a:r>
            <a:endParaRPr lang="en-US" sz="1600" dirty="0"/>
          </a:p>
        </p:txBody>
      </p:sp>
      <p:sp>
        <p:nvSpPr>
          <p:cNvPr id="24" name="Text 22"/>
          <p:cNvSpPr/>
          <p:nvPr/>
        </p:nvSpPr>
        <p:spPr>
          <a:xfrm>
            <a:off x="1188720" y="4160520"/>
            <a:ext cx="3200400" cy="64008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Sales insights and revenue tracking</a:t>
            </a:r>
            <a:endParaRPr lang="en-US" sz="1200" dirty="0"/>
          </a:p>
        </p:txBody>
      </p:sp>
      <p:sp>
        <p:nvSpPr>
          <p:cNvPr id="25" name="Shape 23"/>
          <p:cNvSpPr/>
          <p:nvPr/>
        </p:nvSpPr>
        <p:spPr>
          <a:xfrm>
            <a:off x="4754880" y="3657600"/>
            <a:ext cx="4114800" cy="1234440"/>
          </a:xfrm>
          <a:prstGeom prst="roundRect">
            <a:avLst>
              <a:gd name="adj" fmla="val 7407"/>
            </a:avLst>
          </a:prstGeom>
          <a:solidFill>
            <a:srgbClr val="EBF8FF"/>
          </a:solidFill>
          <a:ln w="12700">
            <a:solidFill>
              <a:srgbClr val="2C5282"/>
            </a:solidFill>
            <a:prstDash val="solid"/>
          </a:ln>
        </p:spPr>
      </p:sp>
      <p:sp>
        <p:nvSpPr>
          <p:cNvPr id="26" name="Text 24"/>
          <p:cNvSpPr/>
          <p:nvPr/>
        </p:nvSpPr>
        <p:spPr>
          <a:xfrm>
            <a:off x="4846320" y="3840480"/>
            <a:ext cx="5486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7" name="Text 25"/>
          <p:cNvSpPr/>
          <p:nvPr/>
        </p:nvSpPr>
        <p:spPr>
          <a:xfrm>
            <a:off x="5486400" y="3794760"/>
            <a:ext cx="320040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Secure Payment Flow</a:t>
            </a:r>
            <a:endParaRPr lang="en-US" sz="1600" dirty="0"/>
          </a:p>
        </p:txBody>
      </p:sp>
      <p:sp>
        <p:nvSpPr>
          <p:cNvPr id="28" name="Text 26"/>
          <p:cNvSpPr/>
          <p:nvPr/>
        </p:nvSpPr>
        <p:spPr>
          <a:xfrm>
            <a:off x="5486400" y="4160520"/>
            <a:ext cx="3200400" cy="64008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PayU with PCI-compliant handling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Future Scope</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Shape 3"/>
          <p:cNvSpPr/>
          <p:nvPr/>
        </p:nvSpPr>
        <p:spPr>
          <a:xfrm>
            <a:off x="457200" y="1188720"/>
            <a:ext cx="640080" cy="640080"/>
          </a:xfrm>
          <a:prstGeom prst="ellipse">
            <a:avLst/>
          </a:prstGeom>
          <a:solidFill>
            <a:srgbClr val="E53E3E"/>
          </a:solidFill>
          <a:ln/>
        </p:spPr>
      </p:sp>
      <p:sp>
        <p:nvSpPr>
          <p:cNvPr id="6" name="Text 4"/>
          <p:cNvSpPr/>
          <p:nvPr/>
        </p:nvSpPr>
        <p:spPr>
          <a:xfrm>
            <a:off x="457200" y="118872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1280160" y="1097280"/>
            <a:ext cx="329184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AI-Powered Recommendations</a:t>
            </a:r>
            <a:endParaRPr lang="en-US" sz="1600" dirty="0"/>
          </a:p>
        </p:txBody>
      </p:sp>
      <p:sp>
        <p:nvSpPr>
          <p:cNvPr id="8" name="Text 6"/>
          <p:cNvSpPr/>
          <p:nvPr/>
        </p:nvSpPr>
        <p:spPr>
          <a:xfrm>
            <a:off x="1280160" y="1463040"/>
            <a:ext cx="3291840" cy="73152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ML algorithms for personalized product suggestions</a:t>
            </a:r>
            <a:endParaRPr lang="en-US" sz="1200" dirty="0"/>
          </a:p>
        </p:txBody>
      </p:sp>
      <p:sp>
        <p:nvSpPr>
          <p:cNvPr id="9" name="Shape 7"/>
          <p:cNvSpPr/>
          <p:nvPr/>
        </p:nvSpPr>
        <p:spPr>
          <a:xfrm>
            <a:off x="4754880" y="1188720"/>
            <a:ext cx="640080" cy="640080"/>
          </a:xfrm>
          <a:prstGeom prst="ellipse">
            <a:avLst/>
          </a:prstGeom>
          <a:solidFill>
            <a:srgbClr val="E53E3E"/>
          </a:solidFill>
          <a:ln/>
        </p:spPr>
      </p:sp>
      <p:sp>
        <p:nvSpPr>
          <p:cNvPr id="10" name="Text 8"/>
          <p:cNvSpPr/>
          <p:nvPr/>
        </p:nvSpPr>
        <p:spPr>
          <a:xfrm>
            <a:off x="4754880" y="118872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5577840" y="1097280"/>
            <a:ext cx="329184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Augmented Reality Try-On</a:t>
            </a:r>
            <a:endParaRPr lang="en-US" sz="1600" dirty="0"/>
          </a:p>
        </p:txBody>
      </p:sp>
      <p:sp>
        <p:nvSpPr>
          <p:cNvPr id="12" name="Text 10"/>
          <p:cNvSpPr/>
          <p:nvPr/>
        </p:nvSpPr>
        <p:spPr>
          <a:xfrm>
            <a:off x="5577840" y="1463040"/>
            <a:ext cx="3291840" cy="73152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AR integration for virtual clothing try-on</a:t>
            </a:r>
            <a:endParaRPr lang="en-US" sz="1200" dirty="0"/>
          </a:p>
        </p:txBody>
      </p:sp>
      <p:sp>
        <p:nvSpPr>
          <p:cNvPr id="13" name="Shape 11"/>
          <p:cNvSpPr/>
          <p:nvPr/>
        </p:nvSpPr>
        <p:spPr>
          <a:xfrm>
            <a:off x="457200" y="2514600"/>
            <a:ext cx="640080" cy="640080"/>
          </a:xfrm>
          <a:prstGeom prst="ellipse">
            <a:avLst/>
          </a:prstGeom>
          <a:solidFill>
            <a:srgbClr val="E53E3E"/>
          </a:solidFill>
          <a:ln/>
        </p:spPr>
      </p:sp>
      <p:sp>
        <p:nvSpPr>
          <p:cNvPr id="14" name="Text 12"/>
          <p:cNvSpPr/>
          <p:nvPr/>
        </p:nvSpPr>
        <p:spPr>
          <a:xfrm>
            <a:off x="457200" y="251460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1280160" y="2423160"/>
            <a:ext cx="329184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Multi-Vendor Marketplace</a:t>
            </a:r>
            <a:endParaRPr lang="en-US" sz="1600" dirty="0"/>
          </a:p>
        </p:txBody>
      </p:sp>
      <p:sp>
        <p:nvSpPr>
          <p:cNvPr id="16" name="Text 14"/>
          <p:cNvSpPr/>
          <p:nvPr/>
        </p:nvSpPr>
        <p:spPr>
          <a:xfrm>
            <a:off x="1280160" y="2788920"/>
            <a:ext cx="3291840" cy="73152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Platform for multiple sellers with dashboards</a:t>
            </a:r>
            <a:endParaRPr lang="en-US" sz="1200" dirty="0"/>
          </a:p>
        </p:txBody>
      </p:sp>
      <p:sp>
        <p:nvSpPr>
          <p:cNvPr id="17" name="Shape 15"/>
          <p:cNvSpPr/>
          <p:nvPr/>
        </p:nvSpPr>
        <p:spPr>
          <a:xfrm>
            <a:off x="4754880" y="2514600"/>
            <a:ext cx="640080" cy="640080"/>
          </a:xfrm>
          <a:prstGeom prst="ellipse">
            <a:avLst/>
          </a:prstGeom>
          <a:solidFill>
            <a:srgbClr val="E53E3E"/>
          </a:solidFill>
          <a:ln/>
        </p:spPr>
      </p:sp>
      <p:sp>
        <p:nvSpPr>
          <p:cNvPr id="18" name="Text 16"/>
          <p:cNvSpPr/>
          <p:nvPr/>
        </p:nvSpPr>
        <p:spPr>
          <a:xfrm>
            <a:off x="4754880" y="251460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5577840" y="2423160"/>
            <a:ext cx="329184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Advanced Inventory Management</a:t>
            </a:r>
            <a:endParaRPr lang="en-US" sz="1600" dirty="0"/>
          </a:p>
        </p:txBody>
      </p:sp>
      <p:sp>
        <p:nvSpPr>
          <p:cNvPr id="20" name="Text 18"/>
          <p:cNvSpPr/>
          <p:nvPr/>
        </p:nvSpPr>
        <p:spPr>
          <a:xfrm>
            <a:off x="5577840" y="2788920"/>
            <a:ext cx="3291840" cy="73152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Barcode scanning and supplier integration</a:t>
            </a:r>
            <a:endParaRPr lang="en-US" sz="1200" dirty="0"/>
          </a:p>
        </p:txBody>
      </p:sp>
      <p:sp>
        <p:nvSpPr>
          <p:cNvPr id="21" name="Shape 19"/>
          <p:cNvSpPr/>
          <p:nvPr/>
        </p:nvSpPr>
        <p:spPr>
          <a:xfrm>
            <a:off x="457200" y="3840480"/>
            <a:ext cx="640080" cy="640080"/>
          </a:xfrm>
          <a:prstGeom prst="ellipse">
            <a:avLst/>
          </a:prstGeom>
          <a:solidFill>
            <a:srgbClr val="E53E3E"/>
          </a:solidFill>
          <a:ln/>
        </p:spPr>
      </p:sp>
      <p:sp>
        <p:nvSpPr>
          <p:cNvPr id="22" name="Text 20"/>
          <p:cNvSpPr/>
          <p:nvPr/>
        </p:nvSpPr>
        <p:spPr>
          <a:xfrm>
            <a:off x="457200" y="384048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1280160" y="3749040"/>
            <a:ext cx="329184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Internationalization Support</a:t>
            </a:r>
            <a:endParaRPr lang="en-US" sz="1600" dirty="0"/>
          </a:p>
        </p:txBody>
      </p:sp>
      <p:sp>
        <p:nvSpPr>
          <p:cNvPr id="24" name="Text 22"/>
          <p:cNvSpPr/>
          <p:nvPr/>
        </p:nvSpPr>
        <p:spPr>
          <a:xfrm>
            <a:off x="1280160" y="4114800"/>
            <a:ext cx="3291840" cy="73152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Multi-currency and multilingual interface</a:t>
            </a:r>
            <a:endParaRPr lang="en-US" sz="1200" dirty="0"/>
          </a:p>
        </p:txBody>
      </p:sp>
      <p:sp>
        <p:nvSpPr>
          <p:cNvPr id="25" name="Shape 23"/>
          <p:cNvSpPr/>
          <p:nvPr/>
        </p:nvSpPr>
        <p:spPr>
          <a:xfrm>
            <a:off x="4754880" y="3840480"/>
            <a:ext cx="640080" cy="640080"/>
          </a:xfrm>
          <a:prstGeom prst="ellipse">
            <a:avLst/>
          </a:prstGeom>
          <a:solidFill>
            <a:srgbClr val="E53E3E"/>
          </a:solidFill>
          <a:ln/>
        </p:spPr>
      </p:sp>
      <p:sp>
        <p:nvSpPr>
          <p:cNvPr id="26" name="Text 24"/>
          <p:cNvSpPr/>
          <p:nvPr/>
        </p:nvSpPr>
        <p:spPr>
          <a:xfrm>
            <a:off x="4754880" y="3840480"/>
            <a:ext cx="640080" cy="6400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7" name="Text 25"/>
          <p:cNvSpPr/>
          <p:nvPr/>
        </p:nvSpPr>
        <p:spPr>
          <a:xfrm>
            <a:off x="5577840" y="3749040"/>
            <a:ext cx="3291840" cy="365760"/>
          </a:xfrm>
          <a:prstGeom prst="rect">
            <a:avLst/>
          </a:prstGeom>
          <a:noFill/>
          <a:ln/>
        </p:spPr>
        <p:txBody>
          <a:bodyPr wrap="square" rtlCol="0" anchor="ctr"/>
          <a:lstStyle/>
          <a:p>
            <a:pPr indent="0" marL="0">
              <a:buNone/>
            </a:pPr>
            <a:r>
              <a:rPr lang="en-US" sz="1600" b="1" dirty="0">
                <a:solidFill>
                  <a:srgbClr val="1A365D"/>
                </a:solidFill>
                <a:latin typeface="Times New Roman" pitchFamily="34" charset="0"/>
                <a:ea typeface="Times New Roman" pitchFamily="34" charset="-122"/>
                <a:cs typeface="Times New Roman" pitchFamily="34" charset="-120"/>
              </a:rPr>
              <a:t>Loyalty &amp; Rewards Program</a:t>
            </a:r>
            <a:endParaRPr lang="en-US" sz="1600" dirty="0"/>
          </a:p>
        </p:txBody>
      </p:sp>
      <p:sp>
        <p:nvSpPr>
          <p:cNvPr id="28" name="Text 26"/>
          <p:cNvSpPr/>
          <p:nvPr/>
        </p:nvSpPr>
        <p:spPr>
          <a:xfrm>
            <a:off x="5577840" y="4114800"/>
            <a:ext cx="3291840" cy="731520"/>
          </a:xfrm>
          <a:prstGeom prst="rect">
            <a:avLst/>
          </a:prstGeom>
          <a:noFill/>
          <a:ln/>
        </p:spPr>
        <p:txBody>
          <a:bodyPr wrap="square" rtlCol="0" anchor="ctr"/>
          <a:lstStyle/>
          <a:p>
            <a:pPr indent="0" marL="0">
              <a:buNone/>
            </a:pPr>
            <a:r>
              <a:rPr lang="en-US" sz="1200" dirty="0">
                <a:solidFill>
                  <a:srgbClr val="718096"/>
                </a:solidFill>
                <a:latin typeface="Times New Roman" pitchFamily="34" charset="0"/>
                <a:ea typeface="Times New Roman" pitchFamily="34" charset="-122"/>
                <a:cs typeface="Times New Roman" pitchFamily="34" charset="-120"/>
              </a:rPr>
              <a:t>Points-based system with tiered benefits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365D"/>
        </a:solidFill>
      </p:bgPr>
    </p:bg>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2C5282"/>
          </a:solidFill>
          <a:ln/>
        </p:spPr>
      </p:sp>
      <p:sp>
        <p:nvSpPr>
          <p:cNvPr id="3" name="Shape 1"/>
          <p:cNvSpPr/>
          <p:nvPr/>
        </p:nvSpPr>
        <p:spPr>
          <a:xfrm>
            <a:off x="7772400" y="3657600"/>
            <a:ext cx="2286000" cy="2286000"/>
          </a:xfrm>
          <a:prstGeom prst="ellipse">
            <a:avLst/>
          </a:prstGeom>
          <a:solidFill>
            <a:srgbClr val="E53E3E"/>
          </a:solidFill>
          <a:ln/>
        </p:spPr>
      </p:sp>
      <p:sp>
        <p:nvSpPr>
          <p:cNvPr id="4" name="Text 2"/>
          <p:cNvSpPr/>
          <p:nvPr/>
        </p:nvSpPr>
        <p:spPr>
          <a:xfrm>
            <a:off x="457200" y="457200"/>
            <a:ext cx="8229600" cy="731520"/>
          </a:xfrm>
          <a:prstGeom prst="rect">
            <a:avLst/>
          </a:prstGeom>
          <a:noFill/>
          <a:ln/>
        </p:spPr>
        <p:txBody>
          <a:bodyPr wrap="square" rtlCol="0" anchor="ctr"/>
          <a:lstStyle/>
          <a:p>
            <a:pPr algn="ctr" indent="0" marL="0">
              <a:buNone/>
            </a:pPr>
            <a:r>
              <a:rPr lang="en-US" sz="3600" b="1" dirty="0">
                <a:solidFill>
                  <a:srgbClr val="FFFFFF"/>
                </a:solidFill>
                <a:latin typeface="Times New Roman" pitchFamily="34" charset="0"/>
                <a:ea typeface="Times New Roman" pitchFamily="34" charset="-122"/>
                <a:cs typeface="Times New Roman" pitchFamily="34" charset="-120"/>
              </a:rPr>
              <a:t>Conclusion</a:t>
            </a:r>
            <a:endParaRPr lang="en-US" sz="3600" dirty="0"/>
          </a:p>
        </p:txBody>
      </p:sp>
      <p:sp>
        <p:nvSpPr>
          <p:cNvPr id="5" name="Shape 3"/>
          <p:cNvSpPr/>
          <p:nvPr/>
        </p:nvSpPr>
        <p:spPr>
          <a:xfrm>
            <a:off x="3657600" y="1188720"/>
            <a:ext cx="1828800" cy="45720"/>
          </a:xfrm>
          <a:prstGeom prst="rect">
            <a:avLst/>
          </a:prstGeom>
          <a:solidFill>
            <a:srgbClr val="FFFFFF"/>
          </a:solidFill>
          <a:ln/>
        </p:spPr>
      </p:sp>
      <p:sp>
        <p:nvSpPr>
          <p:cNvPr id="6" name="Text 4"/>
          <p:cNvSpPr/>
          <p:nvPr/>
        </p:nvSpPr>
        <p:spPr>
          <a:xfrm>
            <a:off x="731520" y="1371600"/>
            <a:ext cx="7680960" cy="3108960"/>
          </a:xfrm>
          <a:prstGeom prst="rect">
            <a:avLst/>
          </a:prstGeom>
          <a:noFill/>
          <a:ln/>
        </p:spPr>
        <p:txBody>
          <a:bodyPr wrap="square" rtlCol="0" anchor="ctr"/>
          <a:lstStyle/>
          <a:p>
            <a:pPr algn="just" indent="0" marL="0">
              <a:buNone/>
            </a:pPr>
            <a:r>
              <a:rPr lang="en-US" sz="1500" dirty="0">
                <a:solidFill>
                  <a:srgbClr val="FFFFFF"/>
                </a:solidFill>
                <a:latin typeface="Times New Roman" pitchFamily="34" charset="0"/>
                <a:ea typeface="Times New Roman" pitchFamily="34" charset="-122"/>
                <a:cs typeface="Times New Roman" pitchFamily="34" charset="-120"/>
              </a:rPr>
              <a:t>The Velvora E-commerce platform successfully demonstrates the implementation of a comprehensive online retail solution with robust database management. Through careful integration of modern web technologies and secure payment processing, the system provides a complete shopping experience from product browsing to order fulfillment.</a:t>
            </a:r>
            <a:endParaRPr lang="en-US" sz="1500" dirty="0"/>
          </a:p>
          <a:p>
            <a:pPr algn="just" indent="0" marL="0">
              <a:buNone/>
            </a:pPr>
            <a:endParaRPr lang="en-US" sz="1500" dirty="0"/>
          </a:p>
          <a:p>
            <a:pPr algn="just" indent="0" marL="0">
              <a:buNone/>
            </a:pPr>
            <a:r>
              <a:rPr lang="en-US" sz="1500" dirty="0">
                <a:solidFill>
                  <a:srgbClr val="FFFFFF"/>
                </a:solidFill>
                <a:latin typeface="Times New Roman" pitchFamily="34" charset="0"/>
                <a:ea typeface="Times New Roman" pitchFamily="34" charset="-122"/>
                <a:cs typeface="Times New Roman" pitchFamily="34" charset="-120"/>
              </a:rPr>
              <a:t>The project showcases effective use of PostgreSQL for data persistence, Node.js/Express for scalable backend architecture, and responsive frontend design for cross-platform compatibility. The admin dashboard enables efficient inventory and order management while maintaining data integrity through proper relational schema design.</a:t>
            </a:r>
            <a:endParaRPr lang="en-US" sz="1500" dirty="0"/>
          </a:p>
          <a:p>
            <a:pPr algn="just" indent="0" marL="0">
              <a:buNone/>
            </a:pPr>
            <a:endParaRPr lang="en-US" sz="1500" dirty="0"/>
          </a:p>
          <a:p>
            <a:pPr algn="just" indent="0" marL="0">
              <a:buNone/>
            </a:pPr>
            <a:r>
              <a:rPr lang="en-US" sz="1500" dirty="0">
                <a:solidFill>
                  <a:srgbClr val="FFFFFF"/>
                </a:solidFill>
                <a:latin typeface="Times New Roman" pitchFamily="34" charset="0"/>
                <a:ea typeface="Times New Roman" pitchFamily="34" charset="-122"/>
                <a:cs typeface="Times New Roman" pitchFamily="34" charset="-120"/>
              </a:rPr>
              <a:t>Future enhancements will focus on AI-powered features, expanded payment options, and multi-vendor capabilities to further elevate the platform's competitive position in the e-commerce landscape.</a:t>
            </a:r>
            <a:endParaRPr lang="en-US" sz="1500" dirty="0"/>
          </a:p>
        </p:txBody>
      </p:sp>
      <p:sp>
        <p:nvSpPr>
          <p:cNvPr id="7" name="Shape 5"/>
          <p:cNvSpPr/>
          <p:nvPr/>
        </p:nvSpPr>
        <p:spPr>
          <a:xfrm>
            <a:off x="0" y="4663440"/>
            <a:ext cx="9144000" cy="480060"/>
          </a:xfrm>
          <a:prstGeom prst="rect">
            <a:avLst/>
          </a:prstGeom>
          <a:solidFill>
            <a:srgbClr val="E53E3E"/>
          </a:solidFill>
          <a:ln/>
        </p:spPr>
      </p:sp>
      <p:sp>
        <p:nvSpPr>
          <p:cNvPr id="8" name="Text 6"/>
          <p:cNvSpPr/>
          <p:nvPr/>
        </p:nvSpPr>
        <p:spPr>
          <a:xfrm>
            <a:off x="457200" y="4709160"/>
            <a:ext cx="8229600" cy="4114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Thank You!</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65D"/>
          </a:solidFill>
          <a:ln/>
        </p:spPr>
      </p:sp>
      <p:sp>
        <p:nvSpPr>
          <p:cNvPr id="3" name="Text 1"/>
          <p:cNvSpPr/>
          <p:nvPr/>
        </p:nvSpPr>
        <p:spPr>
          <a:xfrm>
            <a:off x="457200" y="137160"/>
            <a:ext cx="8229600" cy="548640"/>
          </a:xfrm>
          <a:prstGeom prst="rect">
            <a:avLst/>
          </a:prstGeom>
          <a:noFill/>
          <a:ln/>
        </p:spPr>
        <p:txBody>
          <a:bodyPr wrap="square" rtlCol="0" anchor="ctr"/>
          <a:lstStyle/>
          <a:p>
            <a:pPr indent="0" marL="0">
              <a:buNone/>
            </a:pPr>
            <a:r>
              <a:rPr lang="en-US" sz="2800" b="1" dirty="0">
                <a:solidFill>
                  <a:srgbClr val="FFFFFF"/>
                </a:solidFill>
                <a:latin typeface="Times New Roman" pitchFamily="34" charset="0"/>
                <a:ea typeface="Times New Roman" pitchFamily="34" charset="-122"/>
                <a:cs typeface="Times New Roman" pitchFamily="34" charset="-120"/>
              </a:rPr>
              <a:t>References</a:t>
            </a:r>
            <a:endParaRPr lang="en-US" sz="2800" dirty="0"/>
          </a:p>
        </p:txBody>
      </p:sp>
      <p:sp>
        <p:nvSpPr>
          <p:cNvPr id="4" name="Shape 2"/>
          <p:cNvSpPr/>
          <p:nvPr/>
        </p:nvSpPr>
        <p:spPr>
          <a:xfrm>
            <a:off x="0" y="822960"/>
            <a:ext cx="9144000" cy="45720"/>
          </a:xfrm>
          <a:prstGeom prst="rect">
            <a:avLst/>
          </a:prstGeom>
          <a:solidFill>
            <a:srgbClr val="E53E3E"/>
          </a:solidFill>
          <a:ln/>
        </p:spPr>
      </p:sp>
      <p:sp>
        <p:nvSpPr>
          <p:cNvPr id="5" name="Text 3"/>
          <p:cNvSpPr/>
          <p:nvPr/>
        </p:nvSpPr>
        <p:spPr>
          <a:xfrm>
            <a:off x="731520" y="1188720"/>
            <a:ext cx="7680960" cy="3474720"/>
          </a:xfrm>
          <a:prstGeom prst="rect">
            <a:avLst/>
          </a:prstGeom>
          <a:noFill/>
          <a:ln/>
        </p:spPr>
        <p:txBody>
          <a:bodyPr wrap="square" rtlCol="0" anchor="ctr"/>
          <a:lstStyle/>
          <a:p>
            <a:pPr indent="0" marL="0">
              <a:buNone/>
            </a:pPr>
            <a:r>
              <a:rPr lang="en-US" sz="1600" dirty="0">
                <a:solidFill>
                  <a:srgbClr val="1A202C"/>
                </a:solidFill>
                <a:latin typeface="Times New Roman" pitchFamily="34" charset="0"/>
                <a:ea typeface="Times New Roman" pitchFamily="34" charset="-122"/>
                <a:cs typeface="Times New Roman" pitchFamily="34" charset="-120"/>
              </a:rPr>
              <a:t>1. Supabase Documentation - https://supabase.com/docs</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2. Node.js Official Guide - https://nodejs.org/en/docs/</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3. Express.js Documentation - https://expressjs.com/</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4. PayU India Developer Portal - https://developer.payu.in/</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5. PostgreSQL Tutorial - https://www.postgresql.org/docs/</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6. MDN Web Docs (HTML/CSS/JS) - https://developer.mozilla.org/</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7. EmailJS Documentation - https://www.emailjs.com/docs/</a:t>
            </a:r>
            <a:endParaRPr lang="en-US" sz="1600" dirty="0"/>
          </a:p>
          <a:p>
            <a:pPr indent="0" marL="0">
              <a:buNone/>
            </a:pPr>
            <a:r>
              <a:rPr lang="en-US" sz="1600" dirty="0">
                <a:solidFill>
                  <a:srgbClr val="1A202C"/>
                </a:solidFill>
                <a:latin typeface="Times New Roman" pitchFamily="34" charset="0"/>
                <a:ea typeface="Times New Roman" pitchFamily="34" charset="-122"/>
                <a:cs typeface="Times New Roman" pitchFamily="34" charset="-120"/>
              </a:rPr>
              <a:t>8. Vercel Deployment Guide - https://vercel.com/docs</a:t>
            </a:r>
            <a:endParaRPr lang="en-US" sz="1600" dirty="0"/>
          </a:p>
        </p:txBody>
      </p:sp>
      <p:sp>
        <p:nvSpPr>
          <p:cNvPr id="6" name="Shape 4"/>
          <p:cNvSpPr/>
          <p:nvPr/>
        </p:nvSpPr>
        <p:spPr>
          <a:xfrm>
            <a:off x="0" y="4754880"/>
            <a:ext cx="9144000" cy="388620"/>
          </a:xfrm>
          <a:prstGeom prst="rect">
            <a:avLst/>
          </a:prstGeom>
          <a:solidFill>
            <a:srgbClr val="E2E8F0"/>
          </a:solidFill>
          <a:ln/>
        </p:spPr>
      </p:sp>
      <p:sp>
        <p:nvSpPr>
          <p:cNvPr id="7" name="Text 5"/>
          <p:cNvSpPr/>
          <p:nvPr/>
        </p:nvSpPr>
        <p:spPr>
          <a:xfrm>
            <a:off x="457200" y="4800600"/>
            <a:ext cx="8229600" cy="320040"/>
          </a:xfrm>
          <a:prstGeom prst="rect">
            <a:avLst/>
          </a:prstGeom>
          <a:noFill/>
          <a:ln/>
        </p:spPr>
        <p:txBody>
          <a:bodyPr wrap="square" rtlCol="0" anchor="ctr"/>
          <a:lstStyle/>
          <a:p>
            <a:pPr algn="ctr" indent="0" marL="0">
              <a:buNone/>
            </a:pPr>
            <a:r>
              <a:rPr lang="en-US" sz="1200" dirty="0">
                <a:solidFill>
                  <a:srgbClr val="718096"/>
                </a:solidFill>
                <a:latin typeface="Times New Roman" pitchFamily="34" charset="0"/>
                <a:ea typeface="Times New Roman" pitchFamily="34" charset="-122"/>
                <a:cs typeface="Times New Roman" pitchFamily="34" charset="-120"/>
              </a:rPr>
              <a:t>Velvora Luxury - E-Commerce Database Management System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Website for Clothing Business</dc:title>
  <dc:subject>PptxGenJS Presentation</dc:subject>
  <dc:creator>Velvora Team</dc:creator>
  <cp:lastModifiedBy>Velvora Team</cp:lastModifiedBy>
  <cp:revision>1</cp:revision>
  <dcterms:created xsi:type="dcterms:W3CDTF">2026-04-01T04:01:12Z</dcterms:created>
  <dcterms:modified xsi:type="dcterms:W3CDTF">2026-04-01T04:01:12Z</dcterms:modified>
</cp:coreProperties>
</file>